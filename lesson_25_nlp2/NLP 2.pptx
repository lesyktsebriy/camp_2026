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3" r:id="rId8"/>
    <p:sldId id="264" r:id="rId9"/>
    <p:sldId id="265" r:id="rId10"/>
    <p:sldId id="266" r:id="rId11"/>
    <p:sldId id="272" r:id="rId12"/>
    <p:sldId id="268" r:id="rId13"/>
    <p:sldId id="269" r:id="rId14"/>
    <p:sldId id="270" r:id="rId15"/>
    <p:sldId id="271" r:id="rId16"/>
    <p:sldId id="273" r:id="rId17"/>
    <p:sldId id="274" r:id="rId18"/>
    <p:sldId id="275" r:id="rId19"/>
    <p:sldId id="276" r:id="rId20"/>
    <p:sldId id="277" r:id="rId21"/>
    <p:sldId id="282" r:id="rId22"/>
    <p:sldId id="283" r:id="rId23"/>
    <p:sldId id="284" r:id="rId24"/>
    <p:sldId id="262" r:id="rId25"/>
    <p:sldId id="278"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2" autoAdjust="0"/>
    <p:restoredTop sz="94660"/>
  </p:normalViewPr>
  <p:slideViewPr>
    <p:cSldViewPr snapToGrid="0">
      <p:cViewPr varScale="1">
        <p:scale>
          <a:sx n="107" d="100"/>
          <a:sy n="107" d="100"/>
        </p:scale>
        <p:origin x="239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ий слайд">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uk-UA"/>
              <a:t>Клацніть, щоб редагувати стиль зразка заголовка</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uk-UA"/>
              <a:t>Клацніть, щоб редагувати стиль зразка підзаголовка</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7/11/2025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Назва та вмі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7/11/2025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Назва розділу">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p:txBody>
          <a:bodyPr/>
          <a:lstStyle/>
          <a:p>
            <a:fld id="{5A61015F-7CC6-4D0A-9D87-873EA4C304CC}" type="datetimeFigureOut">
              <a:rPr lang="en-US" dirty="0"/>
              <a:t>7/11/2025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7/11/2025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4" name="Content Placeholder 3"/>
          <p:cNvSpPr>
            <a:spLocks noGrp="1"/>
          </p:cNvSpPr>
          <p:nvPr>
            <p:ph sz="half" idx="2"/>
          </p:nvPr>
        </p:nvSpPr>
        <p:spPr>
          <a:xfrm>
            <a:off x="1024128" y="2967788"/>
            <a:ext cx="4754880" cy="3341572"/>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uk-UA"/>
              <a:t>Клацніть, щоб відредагувати стилі зразків тексту</a:t>
            </a:r>
          </a:p>
        </p:txBody>
      </p:sp>
      <p:sp>
        <p:nvSpPr>
          <p:cNvPr id="6" name="Content Placeholder 5"/>
          <p:cNvSpPr>
            <a:spLocks noGrp="1"/>
          </p:cNvSpPr>
          <p:nvPr>
            <p:ph sz="quarter" idx="4"/>
          </p:nvPr>
        </p:nvSpPr>
        <p:spPr>
          <a:xfrm>
            <a:off x="5990888" y="2967788"/>
            <a:ext cx="4754880" cy="3341572"/>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7/11/2025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7/11/2025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и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7/11/2025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Вміст і підпис">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05C68B11-C5A8-448C-8CE9-B1A273C79CFC}" type="datetimeFigureOut">
              <a:rPr lang="en-US" dirty="0"/>
              <a:t>7/11/2025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і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uk-UA"/>
              <a:t>Клацніть, щоб редагувати стиль зразка заголовка</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C7616CA0-919D-4A49-9C8A-62FDFB3A5183}" type="datetimeFigureOut">
              <a:rPr lang="en-US" dirty="0"/>
              <a:t>7/11/2025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7/11/2025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ий заголовок і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7/11/2025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7/11/2025</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2F5836D-74F1-2CC2-B4C8-DDEBB84BD388}"/>
              </a:ext>
            </a:extLst>
          </p:cNvPr>
          <p:cNvSpPr>
            <a:spLocks noGrp="1"/>
          </p:cNvSpPr>
          <p:nvPr>
            <p:ph type="ctrTitle"/>
          </p:nvPr>
        </p:nvSpPr>
        <p:spPr/>
        <p:txBody>
          <a:bodyPr/>
          <a:lstStyle/>
          <a:p>
            <a:r>
              <a:rPr lang="en-US" dirty="0"/>
              <a:t>NLP 2</a:t>
            </a:r>
            <a:endParaRPr lang="uk-UA" dirty="0"/>
          </a:p>
        </p:txBody>
      </p:sp>
      <p:sp>
        <p:nvSpPr>
          <p:cNvPr id="3" name="Підзаголовок 2">
            <a:extLst>
              <a:ext uri="{FF2B5EF4-FFF2-40B4-BE49-F238E27FC236}">
                <a16:creationId xmlns:a16="http://schemas.microsoft.com/office/drawing/2014/main" id="{3B86536C-F890-7B37-99A8-053039B645BF}"/>
              </a:ext>
            </a:extLst>
          </p:cNvPr>
          <p:cNvSpPr>
            <a:spLocks noGrp="1"/>
          </p:cNvSpPr>
          <p:nvPr>
            <p:ph type="subTitle" idx="1"/>
          </p:nvPr>
        </p:nvSpPr>
        <p:spPr/>
        <p:txBody>
          <a:bodyPr/>
          <a:lstStyle/>
          <a:p>
            <a:r>
              <a:rPr lang="en-US" dirty="0"/>
              <a:t>Embeddings, RNN, LSTM</a:t>
            </a:r>
            <a:endParaRPr lang="uk-UA" dirty="0"/>
          </a:p>
        </p:txBody>
      </p:sp>
    </p:spTree>
    <p:extLst>
      <p:ext uri="{BB962C8B-B14F-4D97-AF65-F5344CB8AC3E}">
        <p14:creationId xmlns:p14="http://schemas.microsoft.com/office/powerpoint/2010/main" val="4063403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AEBD6F1-9584-B103-5F52-1BED1FEE648E}"/>
              </a:ext>
            </a:extLst>
          </p:cNvPr>
          <p:cNvSpPr>
            <a:spLocks noGrp="1"/>
          </p:cNvSpPr>
          <p:nvPr>
            <p:ph type="title"/>
          </p:nvPr>
        </p:nvSpPr>
        <p:spPr/>
        <p:txBody>
          <a:bodyPr/>
          <a:lstStyle/>
          <a:p>
            <a:r>
              <a:rPr lang="en-US" dirty="0"/>
              <a:t>Sentiment Analysis</a:t>
            </a:r>
            <a:endParaRPr lang="uk-UA" dirty="0"/>
          </a:p>
        </p:txBody>
      </p:sp>
      <p:sp>
        <p:nvSpPr>
          <p:cNvPr id="3" name="Місце для вмісту 2">
            <a:extLst>
              <a:ext uri="{FF2B5EF4-FFF2-40B4-BE49-F238E27FC236}">
                <a16:creationId xmlns:a16="http://schemas.microsoft.com/office/drawing/2014/main" id="{23C285F1-7459-DA03-8A89-F9F24FC8AE73}"/>
              </a:ext>
            </a:extLst>
          </p:cNvPr>
          <p:cNvSpPr>
            <a:spLocks noGrp="1"/>
          </p:cNvSpPr>
          <p:nvPr>
            <p:ph idx="1"/>
          </p:nvPr>
        </p:nvSpPr>
        <p:spPr/>
        <p:txBody>
          <a:bodyPr>
            <a:normAutofit/>
          </a:bodyPr>
          <a:lstStyle/>
          <a:p>
            <a:r>
              <a:rPr lang="en-US" b="1" dirty="0"/>
              <a:t>WHAT IT IS:</a:t>
            </a:r>
            <a:r>
              <a:rPr lang="en-US" dirty="0"/>
              <a:t> Automatically identifying the emotional tone behind a body of text. Is it positive, negative, or neutral?</a:t>
            </a:r>
          </a:p>
          <a:p>
            <a:r>
              <a:rPr lang="en-US" b="1" dirty="0"/>
              <a:t>EXAMPLE:</a:t>
            </a:r>
            <a:endParaRPr lang="en-US" dirty="0"/>
          </a:p>
          <a:p>
            <a:pPr lvl="1" fontAlgn="base"/>
            <a:r>
              <a:rPr lang="en-US" b="1" dirty="0"/>
              <a:t>Input Text:</a:t>
            </a:r>
            <a:r>
              <a:rPr lang="en-US" dirty="0"/>
              <a:t> "The battery life on this new phone is incredible, but the camera quality is a bit disappointing."</a:t>
            </a:r>
          </a:p>
          <a:p>
            <a:pPr lvl="1" fontAlgn="base"/>
            <a:r>
              <a:rPr lang="en-US" b="1" dirty="0"/>
              <a:t>Model Output:</a:t>
            </a:r>
            <a:endParaRPr lang="en-US" dirty="0"/>
          </a:p>
          <a:p>
            <a:pPr lvl="2" fontAlgn="base"/>
            <a:r>
              <a:rPr lang="en-US" dirty="0"/>
              <a:t>Battery Life: </a:t>
            </a:r>
            <a:r>
              <a:rPr lang="en-US" b="1" dirty="0"/>
              <a:t>Positive</a:t>
            </a:r>
            <a:endParaRPr lang="en-US" dirty="0"/>
          </a:p>
          <a:p>
            <a:pPr lvl="2" fontAlgn="base"/>
            <a:r>
              <a:rPr lang="en-US" dirty="0"/>
              <a:t>Camera Quality: </a:t>
            </a:r>
            <a:r>
              <a:rPr lang="en-US" b="1" dirty="0"/>
              <a:t>Negative</a:t>
            </a:r>
            <a:endParaRPr lang="en-US" dirty="0"/>
          </a:p>
          <a:p>
            <a:r>
              <a:rPr lang="en-US" b="1" dirty="0"/>
              <a:t>WHY IT'S USEFUL:</a:t>
            </a:r>
            <a:r>
              <a:rPr lang="en-US" dirty="0"/>
              <a:t> Instantly gauge customer feedback from thousands of reviews, monitor social media brand perception, and prioritize customer support tickets.</a:t>
            </a:r>
            <a:endParaRPr lang="uk-UA" dirty="0"/>
          </a:p>
        </p:txBody>
      </p:sp>
    </p:spTree>
    <p:extLst>
      <p:ext uri="{BB962C8B-B14F-4D97-AF65-F5344CB8AC3E}">
        <p14:creationId xmlns:p14="http://schemas.microsoft.com/office/powerpoint/2010/main" val="529004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6ABEA6-DC3D-D041-36BC-4368C1F8ADCA}"/>
              </a:ext>
            </a:extLst>
          </p:cNvPr>
          <p:cNvSpPr>
            <a:spLocks noGrp="1"/>
          </p:cNvSpPr>
          <p:nvPr>
            <p:ph type="title"/>
          </p:nvPr>
        </p:nvSpPr>
        <p:spPr/>
        <p:txBody>
          <a:bodyPr/>
          <a:lstStyle/>
          <a:p>
            <a:r>
              <a:rPr lang="en-US" dirty="0"/>
              <a:t>Named Entity Recognition (NER)</a:t>
            </a:r>
            <a:endParaRPr lang="uk-UA" dirty="0"/>
          </a:p>
        </p:txBody>
      </p:sp>
      <p:sp>
        <p:nvSpPr>
          <p:cNvPr id="3" name="Місце для вмісту 2">
            <a:extLst>
              <a:ext uri="{FF2B5EF4-FFF2-40B4-BE49-F238E27FC236}">
                <a16:creationId xmlns:a16="http://schemas.microsoft.com/office/drawing/2014/main" id="{4D54C192-9B27-8102-6305-87B4C53BA7BC}"/>
              </a:ext>
            </a:extLst>
          </p:cNvPr>
          <p:cNvSpPr>
            <a:spLocks noGrp="1"/>
          </p:cNvSpPr>
          <p:nvPr>
            <p:ph idx="1"/>
          </p:nvPr>
        </p:nvSpPr>
        <p:spPr/>
        <p:txBody>
          <a:bodyPr>
            <a:normAutofit lnSpcReduction="10000"/>
          </a:bodyPr>
          <a:lstStyle/>
          <a:p>
            <a:r>
              <a:rPr lang="en-US" b="1" dirty="0"/>
              <a:t>WHAT IT IS:</a:t>
            </a:r>
            <a:r>
              <a:rPr lang="en-US" dirty="0"/>
              <a:t> Locating and classifying named entities in text into pre-defined categories such as person names, organizations, locations, medical codes, time expressions, etc.</a:t>
            </a:r>
          </a:p>
          <a:p>
            <a:r>
              <a:rPr lang="en-US" b="1" dirty="0"/>
              <a:t>EXAMPLE:</a:t>
            </a:r>
            <a:endParaRPr lang="en-US" dirty="0"/>
          </a:p>
          <a:p>
            <a:pPr lvl="1" fontAlgn="base"/>
            <a:r>
              <a:rPr lang="en-US" b="1" dirty="0"/>
              <a:t>Input Text:</a:t>
            </a:r>
            <a:r>
              <a:rPr lang="en-US" dirty="0"/>
              <a:t> "On Tuesday, </a:t>
            </a:r>
            <a:r>
              <a:rPr lang="en-US" b="1" dirty="0"/>
              <a:t>Apple Inc.</a:t>
            </a:r>
            <a:r>
              <a:rPr lang="en-US" dirty="0"/>
              <a:t> announced that </a:t>
            </a:r>
            <a:r>
              <a:rPr lang="en-US" b="1" dirty="0"/>
              <a:t>Tim Cook</a:t>
            </a:r>
            <a:r>
              <a:rPr lang="en-US" dirty="0"/>
              <a:t> would be presenting the keynote from their headquarters in </a:t>
            </a:r>
            <a:r>
              <a:rPr lang="en-US" b="1" dirty="0"/>
              <a:t>Cupertino</a:t>
            </a:r>
            <a:r>
              <a:rPr lang="en-US" dirty="0"/>
              <a:t>."</a:t>
            </a:r>
          </a:p>
          <a:p>
            <a:pPr lvl="1" fontAlgn="base"/>
            <a:r>
              <a:rPr lang="en-US" b="1" dirty="0"/>
              <a:t>Model Output:</a:t>
            </a:r>
            <a:endParaRPr lang="en-US" dirty="0"/>
          </a:p>
          <a:p>
            <a:pPr lvl="2" fontAlgn="base"/>
            <a:r>
              <a:rPr lang="en-US" dirty="0"/>
              <a:t>Apple Inc.: </a:t>
            </a:r>
            <a:r>
              <a:rPr lang="en-US" b="1" dirty="0"/>
              <a:t>[ORGANIZATION]</a:t>
            </a:r>
            <a:endParaRPr lang="en-US" dirty="0"/>
          </a:p>
          <a:p>
            <a:pPr lvl="2" fontAlgn="base"/>
            <a:r>
              <a:rPr lang="en-US" dirty="0"/>
              <a:t>Tim Cook: </a:t>
            </a:r>
            <a:r>
              <a:rPr lang="en-US" b="1" dirty="0"/>
              <a:t>[PERSON]</a:t>
            </a:r>
            <a:endParaRPr lang="en-US" dirty="0"/>
          </a:p>
          <a:p>
            <a:pPr lvl="2" fontAlgn="base"/>
            <a:r>
              <a:rPr lang="en-US" dirty="0"/>
              <a:t>Cupertino: </a:t>
            </a:r>
            <a:r>
              <a:rPr lang="en-US" b="1" dirty="0"/>
              <a:t>[LOCATION]</a:t>
            </a:r>
            <a:endParaRPr lang="en-US" dirty="0"/>
          </a:p>
          <a:p>
            <a:pPr lvl="2" fontAlgn="base"/>
            <a:r>
              <a:rPr lang="en-US" dirty="0"/>
              <a:t>On Tuesday: </a:t>
            </a:r>
            <a:r>
              <a:rPr lang="en-US" b="1" dirty="0"/>
              <a:t>[DATE]</a:t>
            </a:r>
            <a:endParaRPr lang="en-US" dirty="0"/>
          </a:p>
          <a:p>
            <a:r>
              <a:rPr lang="en-US" b="1" dirty="0"/>
              <a:t>WHY IT'S USEFUL:</a:t>
            </a:r>
            <a:r>
              <a:rPr lang="en-US" dirty="0"/>
              <a:t> Structuring information, improving search engine algorithms, and automatically summarizing key information from documents.</a:t>
            </a:r>
            <a:endParaRPr lang="uk-UA" dirty="0"/>
          </a:p>
        </p:txBody>
      </p:sp>
    </p:spTree>
    <p:extLst>
      <p:ext uri="{BB962C8B-B14F-4D97-AF65-F5344CB8AC3E}">
        <p14:creationId xmlns:p14="http://schemas.microsoft.com/office/powerpoint/2010/main" val="3103904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AB1391-2954-A618-D8E9-8E40B3428E30}"/>
              </a:ext>
            </a:extLst>
          </p:cNvPr>
          <p:cNvSpPr>
            <a:spLocks noGrp="1"/>
          </p:cNvSpPr>
          <p:nvPr>
            <p:ph type="title"/>
          </p:nvPr>
        </p:nvSpPr>
        <p:spPr/>
        <p:txBody>
          <a:bodyPr/>
          <a:lstStyle/>
          <a:p>
            <a:r>
              <a:rPr lang="en-US" dirty="0"/>
              <a:t>Machine Translation</a:t>
            </a:r>
            <a:endParaRPr lang="uk-UA" dirty="0"/>
          </a:p>
        </p:txBody>
      </p:sp>
      <p:sp>
        <p:nvSpPr>
          <p:cNvPr id="3" name="Місце для вмісту 2">
            <a:extLst>
              <a:ext uri="{FF2B5EF4-FFF2-40B4-BE49-F238E27FC236}">
                <a16:creationId xmlns:a16="http://schemas.microsoft.com/office/drawing/2014/main" id="{A294658B-14B6-BEE1-F8DA-ED3B17AB761F}"/>
              </a:ext>
            </a:extLst>
          </p:cNvPr>
          <p:cNvSpPr>
            <a:spLocks noGrp="1"/>
          </p:cNvSpPr>
          <p:nvPr>
            <p:ph idx="1"/>
          </p:nvPr>
        </p:nvSpPr>
        <p:spPr/>
        <p:txBody>
          <a:bodyPr/>
          <a:lstStyle/>
          <a:p>
            <a:r>
              <a:rPr lang="en-US" b="1" dirty="0"/>
              <a:t>WHAT IT IS:</a:t>
            </a:r>
            <a:r>
              <a:rPr lang="en-US" dirty="0"/>
              <a:t> Automatically translating text from one language to another.</a:t>
            </a:r>
          </a:p>
          <a:p>
            <a:r>
              <a:rPr lang="en-US" b="1" dirty="0"/>
              <a:t>EXAMPLE:</a:t>
            </a:r>
            <a:endParaRPr lang="en-US" dirty="0"/>
          </a:p>
          <a:p>
            <a:pPr lvl="1" fontAlgn="base"/>
            <a:r>
              <a:rPr lang="en-US" b="1" dirty="0"/>
              <a:t>Input Text (Spanish):</a:t>
            </a:r>
            <a:r>
              <a:rPr lang="en-US" dirty="0"/>
              <a:t> "La </a:t>
            </a:r>
            <a:r>
              <a:rPr lang="en-US" dirty="0" err="1"/>
              <a:t>inteligencia</a:t>
            </a:r>
            <a:r>
              <a:rPr lang="en-US" dirty="0"/>
              <a:t> artificial </a:t>
            </a:r>
            <a:r>
              <a:rPr lang="en-US" dirty="0" err="1"/>
              <a:t>está</a:t>
            </a:r>
            <a:r>
              <a:rPr lang="en-US" dirty="0"/>
              <a:t> </a:t>
            </a:r>
            <a:r>
              <a:rPr lang="en-US" dirty="0" err="1"/>
              <a:t>transformando</a:t>
            </a:r>
            <a:r>
              <a:rPr lang="en-US" dirty="0"/>
              <a:t> </a:t>
            </a:r>
            <a:r>
              <a:rPr lang="en-US" dirty="0" err="1"/>
              <a:t>nuestro</a:t>
            </a:r>
            <a:r>
              <a:rPr lang="en-US" dirty="0"/>
              <a:t> </a:t>
            </a:r>
            <a:r>
              <a:rPr lang="en-US" dirty="0" err="1"/>
              <a:t>mundo</a:t>
            </a:r>
            <a:r>
              <a:rPr lang="en-US" dirty="0"/>
              <a:t>."</a:t>
            </a:r>
          </a:p>
          <a:p>
            <a:pPr lvl="1" fontAlgn="base"/>
            <a:r>
              <a:rPr lang="en-US" b="1" dirty="0"/>
              <a:t>Model Output (English):</a:t>
            </a:r>
            <a:r>
              <a:rPr lang="en-US" dirty="0"/>
              <a:t> "Artificial intelligence is transforming our world."</a:t>
            </a:r>
          </a:p>
          <a:p>
            <a:r>
              <a:rPr lang="en-US" b="1" dirty="0"/>
              <a:t>WHY IT'S USEFUL:</a:t>
            </a:r>
            <a:r>
              <a:rPr lang="en-US" dirty="0"/>
              <a:t> Breaking down communication barriers globally, from real-time conversation apps to localizing websites and software. This is far more complex than a simple word-for-word dictionary lookup.</a:t>
            </a:r>
            <a:endParaRPr lang="uk-UA" dirty="0"/>
          </a:p>
        </p:txBody>
      </p:sp>
    </p:spTree>
    <p:extLst>
      <p:ext uri="{BB962C8B-B14F-4D97-AF65-F5344CB8AC3E}">
        <p14:creationId xmlns:p14="http://schemas.microsoft.com/office/powerpoint/2010/main" val="2767770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4E98FBC-2498-A218-DDE5-F80CDB3813DB}"/>
              </a:ext>
            </a:extLst>
          </p:cNvPr>
          <p:cNvSpPr>
            <a:spLocks noGrp="1"/>
          </p:cNvSpPr>
          <p:nvPr>
            <p:ph type="title"/>
          </p:nvPr>
        </p:nvSpPr>
        <p:spPr/>
        <p:txBody>
          <a:bodyPr/>
          <a:lstStyle/>
          <a:p>
            <a:r>
              <a:rPr lang="en-US" dirty="0"/>
              <a:t>Text Summarization &amp; Question Answering</a:t>
            </a:r>
            <a:endParaRPr lang="uk-UA" dirty="0"/>
          </a:p>
        </p:txBody>
      </p:sp>
      <p:sp>
        <p:nvSpPr>
          <p:cNvPr id="3" name="Місце для вмісту 2">
            <a:extLst>
              <a:ext uri="{FF2B5EF4-FFF2-40B4-BE49-F238E27FC236}">
                <a16:creationId xmlns:a16="http://schemas.microsoft.com/office/drawing/2014/main" id="{CC775D26-710C-904E-66FA-B00F6EB17948}"/>
              </a:ext>
            </a:extLst>
          </p:cNvPr>
          <p:cNvSpPr>
            <a:spLocks noGrp="1"/>
          </p:cNvSpPr>
          <p:nvPr>
            <p:ph idx="1"/>
          </p:nvPr>
        </p:nvSpPr>
        <p:spPr/>
        <p:txBody>
          <a:bodyPr>
            <a:normAutofit fontScale="92500"/>
          </a:bodyPr>
          <a:lstStyle/>
          <a:p>
            <a:r>
              <a:rPr lang="en-US" b="1" dirty="0"/>
              <a:t>WHAT THEY ARE:</a:t>
            </a:r>
            <a:endParaRPr lang="en-US" dirty="0"/>
          </a:p>
          <a:p>
            <a:pPr fontAlgn="base"/>
            <a:r>
              <a:rPr lang="en-US" b="1" dirty="0"/>
              <a:t>Summarization:</a:t>
            </a:r>
            <a:r>
              <a:rPr lang="en-US" dirty="0"/>
              <a:t> Creating a short, accurate, and fluent summary of a longer text document.</a:t>
            </a:r>
          </a:p>
          <a:p>
            <a:pPr fontAlgn="base"/>
            <a:r>
              <a:rPr lang="en-US" b="1" dirty="0"/>
              <a:t>Question Answering (QA):</a:t>
            </a:r>
            <a:r>
              <a:rPr lang="en-US" dirty="0"/>
              <a:t> Providing a specific answer to a user's question based on a given context document.</a:t>
            </a:r>
          </a:p>
          <a:p>
            <a:r>
              <a:rPr lang="en-US" b="1" dirty="0"/>
              <a:t>EXAMPLE (QA):</a:t>
            </a:r>
            <a:endParaRPr lang="en-US" dirty="0"/>
          </a:p>
          <a:p>
            <a:pPr lvl="1" fontAlgn="base"/>
            <a:r>
              <a:rPr lang="en-US" b="1" dirty="0"/>
              <a:t>Context:</a:t>
            </a:r>
            <a:r>
              <a:rPr lang="en-US" dirty="0"/>
              <a:t> "The Eiffel Tower was constructed from 1887 to 1889 as the centerpiece of the 1889 World's Fair. It was designed by the engineering firm of Gustave Eiffel."</a:t>
            </a:r>
          </a:p>
          <a:p>
            <a:pPr lvl="1" fontAlgn="base"/>
            <a:r>
              <a:rPr lang="en-US" b="1" dirty="0"/>
              <a:t>Question:</a:t>
            </a:r>
            <a:r>
              <a:rPr lang="en-US" dirty="0"/>
              <a:t> "Who designed the Eiffel Tower?"</a:t>
            </a:r>
          </a:p>
          <a:p>
            <a:pPr lvl="1" fontAlgn="base"/>
            <a:r>
              <a:rPr lang="en-US" b="1" dirty="0"/>
              <a:t>Model Output:</a:t>
            </a:r>
            <a:r>
              <a:rPr lang="en-US" dirty="0"/>
              <a:t> "the engineering firm of Gustave Eiffel"</a:t>
            </a:r>
          </a:p>
          <a:p>
            <a:r>
              <a:rPr lang="en-US" b="1" dirty="0"/>
              <a:t>WHY THEY'RE USEFUL:</a:t>
            </a:r>
            <a:r>
              <a:rPr lang="en-US" dirty="0"/>
              <a:t> Quickly digesting long reports, research papers, or news articles. Powering virtual assistants and search engines.</a:t>
            </a:r>
            <a:endParaRPr lang="uk-UA" dirty="0"/>
          </a:p>
        </p:txBody>
      </p:sp>
    </p:spTree>
    <p:extLst>
      <p:ext uri="{BB962C8B-B14F-4D97-AF65-F5344CB8AC3E}">
        <p14:creationId xmlns:p14="http://schemas.microsoft.com/office/powerpoint/2010/main" val="2003982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8BCC0D6-15BE-3331-9216-9ACCC74CA75E}"/>
              </a:ext>
            </a:extLst>
          </p:cNvPr>
          <p:cNvSpPr>
            <a:spLocks noGrp="1"/>
          </p:cNvSpPr>
          <p:nvPr>
            <p:ph type="title"/>
          </p:nvPr>
        </p:nvSpPr>
        <p:spPr/>
        <p:txBody>
          <a:bodyPr/>
          <a:lstStyle/>
          <a:p>
            <a:r>
              <a:rPr lang="en-US" dirty="0"/>
              <a:t>Bag-of-words</a:t>
            </a:r>
            <a:endParaRPr lang="uk-UA" dirty="0"/>
          </a:p>
        </p:txBody>
      </p:sp>
      <p:sp>
        <p:nvSpPr>
          <p:cNvPr id="3" name="Місце для вмісту 2">
            <a:extLst>
              <a:ext uri="{FF2B5EF4-FFF2-40B4-BE49-F238E27FC236}">
                <a16:creationId xmlns:a16="http://schemas.microsoft.com/office/drawing/2014/main" id="{72A61F99-0471-D185-8902-A816C65814FC}"/>
              </a:ext>
            </a:extLst>
          </p:cNvPr>
          <p:cNvSpPr>
            <a:spLocks noGrp="1"/>
          </p:cNvSpPr>
          <p:nvPr>
            <p:ph idx="1"/>
          </p:nvPr>
        </p:nvSpPr>
        <p:spPr/>
        <p:txBody>
          <a:bodyPr>
            <a:normAutofit fontScale="92500" lnSpcReduction="10000"/>
          </a:bodyPr>
          <a:lstStyle/>
          <a:p>
            <a:r>
              <a:rPr lang="en-US" dirty="0"/>
              <a:t>The idea is simple: represent a document by the counts of its words, ignoring grammar and word order.</a:t>
            </a:r>
          </a:p>
          <a:p>
            <a:r>
              <a:rPr lang="en-US" b="1" dirty="0"/>
              <a:t>EXAMPLE:</a:t>
            </a:r>
            <a:endParaRPr lang="en-US" dirty="0"/>
          </a:p>
          <a:p>
            <a:pPr lvl="1" fontAlgn="base"/>
            <a:r>
              <a:rPr lang="en-US" dirty="0"/>
              <a:t>Sentence 1: "The cat sat on the mat"</a:t>
            </a:r>
          </a:p>
          <a:p>
            <a:pPr lvl="1" fontAlgn="base"/>
            <a:r>
              <a:rPr lang="en-US" dirty="0"/>
              <a:t>Sentence 2: "The mat sat on the cat"</a:t>
            </a:r>
          </a:p>
          <a:p>
            <a:r>
              <a:rPr lang="en-US" dirty="0" err="1"/>
              <a:t>BoW</a:t>
            </a:r>
            <a:r>
              <a:rPr lang="en-US" dirty="0"/>
              <a:t> Representation (for both):</a:t>
            </a:r>
          </a:p>
          <a:p>
            <a:r>
              <a:rPr lang="en-US" dirty="0"/>
              <a:t>{"the": 2, "cat": 1, "sat": 1, "on": 1, "mat": 1}</a:t>
            </a:r>
          </a:p>
          <a:p>
            <a:r>
              <a:rPr lang="en-US" b="1" dirty="0"/>
              <a:t>LIMITATIONS:</a:t>
            </a:r>
            <a:endParaRPr lang="en-US" dirty="0"/>
          </a:p>
          <a:p>
            <a:pPr lvl="1" fontAlgn="base"/>
            <a:r>
              <a:rPr lang="en-US" b="1" dirty="0"/>
              <a:t>No Order:</a:t>
            </a:r>
            <a:r>
              <a:rPr lang="en-US" dirty="0"/>
              <a:t> The model sees Sentence 1 and Sentence 2 as </a:t>
            </a:r>
            <a:r>
              <a:rPr lang="en-US" b="1" dirty="0"/>
              <a:t>identical</a:t>
            </a:r>
            <a:r>
              <a:rPr lang="en-US" dirty="0"/>
              <a:t>. The sequential information, which is vital for meaning, is completely lost.</a:t>
            </a:r>
          </a:p>
          <a:p>
            <a:pPr lvl="1"/>
            <a:r>
              <a:rPr lang="en-US" b="1" dirty="0"/>
              <a:t>No Meaning:</a:t>
            </a:r>
            <a:r>
              <a:rPr lang="en-US" dirty="0"/>
              <a:t> The model has no idea that "cat" and "kitten" are related. Or that "happy" and "joyful" are similar. To the model, they are just as different as "cat" and "rocket".</a:t>
            </a:r>
            <a:endParaRPr lang="uk-UA" dirty="0"/>
          </a:p>
        </p:txBody>
      </p:sp>
    </p:spTree>
    <p:extLst>
      <p:ext uri="{BB962C8B-B14F-4D97-AF65-F5344CB8AC3E}">
        <p14:creationId xmlns:p14="http://schemas.microsoft.com/office/powerpoint/2010/main" val="350019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33B5EC-15A1-C30F-9714-8DC6337618A5}"/>
              </a:ext>
            </a:extLst>
          </p:cNvPr>
          <p:cNvSpPr>
            <a:spLocks noGrp="1"/>
          </p:cNvSpPr>
          <p:nvPr>
            <p:ph type="title"/>
          </p:nvPr>
        </p:nvSpPr>
        <p:spPr/>
        <p:txBody>
          <a:bodyPr/>
          <a:lstStyle/>
          <a:p>
            <a:r>
              <a:rPr lang="en-US" dirty="0"/>
              <a:t>Bow: Step 1: Tokenize and Build a Vocabulary</a:t>
            </a:r>
            <a:endParaRPr lang="uk-UA" dirty="0"/>
          </a:p>
        </p:txBody>
      </p:sp>
      <p:sp>
        <p:nvSpPr>
          <p:cNvPr id="3" name="Місце для вмісту 2">
            <a:extLst>
              <a:ext uri="{FF2B5EF4-FFF2-40B4-BE49-F238E27FC236}">
                <a16:creationId xmlns:a16="http://schemas.microsoft.com/office/drawing/2014/main" id="{18FAE352-6F31-9284-F8B7-624554A35459}"/>
              </a:ext>
            </a:extLst>
          </p:cNvPr>
          <p:cNvSpPr>
            <a:spLocks noGrp="1"/>
          </p:cNvSpPr>
          <p:nvPr>
            <p:ph idx="1"/>
          </p:nvPr>
        </p:nvSpPr>
        <p:spPr/>
        <p:txBody>
          <a:bodyPr/>
          <a:lstStyle/>
          <a:p>
            <a:r>
              <a:rPr lang="en-US" dirty="0"/>
              <a:t>First, you collect every unique word from your entire set of documents (the corpus) to create a master list, or vocabulary.</a:t>
            </a:r>
          </a:p>
          <a:p>
            <a:r>
              <a:rPr lang="en-US" dirty="0"/>
              <a:t>Corpus:</a:t>
            </a:r>
          </a:p>
          <a:p>
            <a:r>
              <a:rPr lang="en-US" dirty="0"/>
              <a:t>Sentence 1: "The cat sat on the mat.“</a:t>
            </a:r>
          </a:p>
          <a:p>
            <a:r>
              <a:rPr lang="en-US" dirty="0"/>
              <a:t>Sentence 2: "The dog ate the homework.“</a:t>
            </a:r>
          </a:p>
          <a:p>
            <a:r>
              <a:rPr lang="en-US" dirty="0"/>
              <a:t>Vocabulary (unique, lowercase words):</a:t>
            </a:r>
          </a:p>
          <a:p>
            <a:r>
              <a:rPr lang="en-US" dirty="0"/>
              <a:t>['the', 'cat', 'sat', 'on', 'mat', 'dog', 'ate', 'homework']</a:t>
            </a:r>
            <a:endParaRPr lang="uk-UA" dirty="0"/>
          </a:p>
        </p:txBody>
      </p:sp>
    </p:spTree>
    <p:extLst>
      <p:ext uri="{BB962C8B-B14F-4D97-AF65-F5344CB8AC3E}">
        <p14:creationId xmlns:p14="http://schemas.microsoft.com/office/powerpoint/2010/main" val="2081431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7BD89C-37A1-293F-35D4-D4512FFCE9FE}"/>
              </a:ext>
            </a:extLst>
          </p:cNvPr>
          <p:cNvSpPr>
            <a:spLocks noGrp="1"/>
          </p:cNvSpPr>
          <p:nvPr>
            <p:ph type="title"/>
          </p:nvPr>
        </p:nvSpPr>
        <p:spPr/>
        <p:txBody>
          <a:bodyPr/>
          <a:lstStyle/>
          <a:p>
            <a:r>
              <a:rPr lang="en-US" dirty="0"/>
              <a:t>Bow: Step 2: Create a Zero Vector for Each Document</a:t>
            </a:r>
            <a:endParaRPr lang="uk-UA" dirty="0"/>
          </a:p>
        </p:txBody>
      </p:sp>
      <p:sp>
        <p:nvSpPr>
          <p:cNvPr id="3" name="Місце для вмісту 2">
            <a:extLst>
              <a:ext uri="{FF2B5EF4-FFF2-40B4-BE49-F238E27FC236}">
                <a16:creationId xmlns:a16="http://schemas.microsoft.com/office/drawing/2014/main" id="{85DCE516-B1C0-3A51-39E0-715EDBE41B3E}"/>
              </a:ext>
            </a:extLst>
          </p:cNvPr>
          <p:cNvSpPr>
            <a:spLocks noGrp="1"/>
          </p:cNvSpPr>
          <p:nvPr>
            <p:ph idx="1"/>
          </p:nvPr>
        </p:nvSpPr>
        <p:spPr/>
        <p:txBody>
          <a:bodyPr>
            <a:normAutofit/>
          </a:bodyPr>
          <a:lstStyle/>
          <a:p>
            <a:r>
              <a:rPr lang="en-US" dirty="0"/>
              <a:t>Each document is represented by a vector that is the same size as the vocabulary, initially filled with zeros.</a:t>
            </a:r>
          </a:p>
          <a:p>
            <a:pPr lvl="1" fontAlgn="base"/>
            <a:r>
              <a:rPr lang="en-US" b="1" dirty="0"/>
              <a:t>Vector for Sentence 1:</a:t>
            </a:r>
            <a:r>
              <a:rPr lang="en-US" dirty="0"/>
              <a:t> [0, 0, 0, 0, 0, 0, 0, 0]</a:t>
            </a:r>
          </a:p>
          <a:p>
            <a:pPr lvl="1" fontAlgn="base"/>
            <a:r>
              <a:rPr lang="en-US" b="1" dirty="0"/>
              <a:t>Vector for Sentence 2:</a:t>
            </a:r>
            <a:r>
              <a:rPr lang="en-US" dirty="0"/>
              <a:t> [0, 0, 0, 0, 0, 0, 0, 0]</a:t>
            </a:r>
          </a:p>
          <a:p>
            <a:r>
              <a:rPr lang="en-US" dirty="0"/>
              <a:t>Step 3: Fill in the Word Counts</a:t>
            </a:r>
          </a:p>
          <a:p>
            <a:r>
              <a:rPr lang="en-US" dirty="0"/>
              <a:t>Go through each document and count the occurrences of each vocabulary word.</a:t>
            </a:r>
          </a:p>
          <a:p>
            <a:pPr lvl="1" fontAlgn="base"/>
            <a:r>
              <a:rPr lang="en-US" b="1" dirty="0"/>
              <a:t>Sentence 1 Vector:</a:t>
            </a:r>
            <a:r>
              <a:rPr lang="en-US" dirty="0"/>
              <a:t> [2, 1, 1, 1, 1, 0, 0, 0]</a:t>
            </a:r>
          </a:p>
          <a:p>
            <a:pPr lvl="2" fontAlgn="base"/>
            <a:r>
              <a:rPr lang="en-US" i="1" dirty="0"/>
              <a:t>(Corresponds to counts for ['the', 'cat', 'sat', 'on', 'mat', 'dog', 'ate', 'homework'])</a:t>
            </a:r>
            <a:endParaRPr lang="en-US" dirty="0"/>
          </a:p>
          <a:p>
            <a:pPr lvl="1"/>
            <a:r>
              <a:rPr lang="en-US" b="1" dirty="0"/>
              <a:t>Sentence 2 Vector:</a:t>
            </a:r>
            <a:r>
              <a:rPr lang="en-US" dirty="0"/>
              <a:t> [2, 0, 0, 0, 0, 1, 1, 1]</a:t>
            </a:r>
            <a:endParaRPr lang="uk-UA" dirty="0"/>
          </a:p>
        </p:txBody>
      </p:sp>
    </p:spTree>
    <p:extLst>
      <p:ext uri="{BB962C8B-B14F-4D97-AF65-F5344CB8AC3E}">
        <p14:creationId xmlns:p14="http://schemas.microsoft.com/office/powerpoint/2010/main" val="1199495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F345133-BC8F-DA87-E2DE-ECFF0010AFBE}"/>
              </a:ext>
            </a:extLst>
          </p:cNvPr>
          <p:cNvSpPr>
            <a:spLocks noGrp="1"/>
          </p:cNvSpPr>
          <p:nvPr>
            <p:ph type="title"/>
          </p:nvPr>
        </p:nvSpPr>
        <p:spPr/>
        <p:txBody>
          <a:bodyPr/>
          <a:lstStyle/>
          <a:p>
            <a:r>
              <a:rPr lang="en-US" dirty="0"/>
              <a:t>Word Embeddings</a:t>
            </a:r>
            <a:endParaRPr lang="uk-UA" dirty="0"/>
          </a:p>
        </p:txBody>
      </p:sp>
      <mc:AlternateContent xmlns:mc="http://schemas.openxmlformats.org/markup-compatibility/2006">
        <mc:Choice xmlns:a14="http://schemas.microsoft.com/office/drawing/2010/main" Requires="a14">
          <p:sp>
            <p:nvSpPr>
              <p:cNvPr id="3" name="Місце для вмісту 2">
                <a:extLst>
                  <a:ext uri="{FF2B5EF4-FFF2-40B4-BE49-F238E27FC236}">
                    <a16:creationId xmlns:a16="http://schemas.microsoft.com/office/drawing/2014/main" id="{C0539C50-4554-3821-8598-2B322E2ABDCC}"/>
                  </a:ext>
                </a:extLst>
              </p:cNvPr>
              <p:cNvSpPr>
                <a:spLocks noGrp="1"/>
              </p:cNvSpPr>
              <p:nvPr>
                <p:ph idx="1"/>
              </p:nvPr>
            </p:nvSpPr>
            <p:spPr/>
            <p:txBody>
              <a:bodyPr>
                <a:normAutofit lnSpcReduction="10000"/>
              </a:bodyPr>
              <a:lstStyle/>
              <a:p>
                <a:r>
                  <a:rPr lang="en-US" dirty="0"/>
                  <a:t>"A word is characterized by the company it keeps." Word2Vec uses a simple neural network to learn vectors based on this principle. The goal isn't the network's prediction, but the </a:t>
                </a:r>
                <a:r>
                  <a:rPr lang="en-US" b="1" dirty="0"/>
                  <a:t>weights it learns</a:t>
                </a:r>
                <a:r>
                  <a:rPr lang="en-US" dirty="0"/>
                  <a:t> for the words.</a:t>
                </a:r>
              </a:p>
              <a:p>
                <a:r>
                  <a:rPr lang="en-US" dirty="0"/>
                  <a:t>There are two main Word2Vec architectures:</a:t>
                </a:r>
              </a:p>
              <a:p>
                <a:r>
                  <a:rPr lang="en-US" dirty="0"/>
                  <a:t>1. Skip-gram:</a:t>
                </a:r>
              </a:p>
              <a:p>
                <a:r>
                  <a:rPr lang="en-US" dirty="0"/>
                  <a:t>2. Continuous Bag-of-Words (CBOW):</a:t>
                </a:r>
              </a:p>
              <a:p>
                <a:r>
                  <a:rPr lang="en-US" dirty="0"/>
                  <a:t>After training, the network's learned weights become our word vectors. This weight matrix is the </a:t>
                </a:r>
                <a:r>
                  <a:rPr lang="en-US" b="1" dirty="0"/>
                  <a:t>word embedding</a:t>
                </a:r>
                <a:r>
                  <a:rPr lang="en-US" dirty="0"/>
                  <a:t>.</a:t>
                </a:r>
              </a:p>
              <a:p>
                <a:r>
                  <a:rPr lang="en-US" dirty="0"/>
                  <a:t>It solves the </a:t>
                </a:r>
                <a:r>
                  <a:rPr lang="en-US" b="1" dirty="0"/>
                  <a:t>meaning</a:t>
                </a:r>
                <a:r>
                  <a:rPr lang="en-US" dirty="0"/>
                  <a:t> problem: "cat" and "kitten" will have similar vectors.</a:t>
                </a:r>
              </a:p>
              <a:p>
                <a:r>
                  <a:rPr lang="en-US" dirty="0"/>
                  <a:t>It enables powerful analogies: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𝑘𝑖𝑛𝑔</m:t>
                        </m:r>
                      </m:e>
                    </m:acc>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b="0" i="1" smtClean="0">
                            <a:latin typeface="Cambria Math" panose="02040503050406030204" pitchFamily="18" charset="0"/>
                          </a:rPr>
                          <m:t>𝑚𝑎𝑛</m:t>
                        </m:r>
                      </m:e>
                    </m:acc>
                  </m:oMath>
                </a14:m>
                <a:r>
                  <a:rPr lang="en-US" dirty="0"/>
                  <a:t> + </a:t>
                </a:r>
                <a14:m>
                  <m:oMath xmlns:m="http://schemas.openxmlformats.org/officeDocument/2006/math">
                    <m:acc>
                      <m:accPr>
                        <m:chr m:val="⃗"/>
                        <m:ctrlPr>
                          <a:rPr lang="en-US" i="1">
                            <a:latin typeface="Cambria Math" panose="02040503050406030204" pitchFamily="18" charset="0"/>
                          </a:rPr>
                        </m:ctrlPr>
                      </m:accPr>
                      <m:e>
                        <m:r>
                          <a:rPr lang="en-US" b="0" i="1" smtClean="0">
                            <a:latin typeface="Cambria Math" panose="02040503050406030204" pitchFamily="18" charset="0"/>
                          </a:rPr>
                          <m:t>𝑤𝑜𝑚𝑎𝑛</m:t>
                        </m:r>
                      </m:e>
                    </m:acc>
                  </m:oMath>
                </a14:m>
                <a:r>
                  <a:rPr lang="en-US" dirty="0"/>
                  <a:t>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acc>
                      <m:accPr>
                        <m:chr m:val="⃗"/>
                        <m:ctrlPr>
                          <a:rPr lang="en-US" i="1">
                            <a:latin typeface="Cambria Math" panose="02040503050406030204" pitchFamily="18" charset="0"/>
                          </a:rPr>
                        </m:ctrlPr>
                      </m:accPr>
                      <m:e>
                        <m:r>
                          <a:rPr lang="en-US" b="0" i="1" smtClean="0">
                            <a:latin typeface="Cambria Math" panose="02040503050406030204" pitchFamily="18" charset="0"/>
                          </a:rPr>
                          <m:t>𝑞𝑢𝑒𝑒𝑛</m:t>
                        </m:r>
                      </m:e>
                    </m:acc>
                  </m:oMath>
                </a14:m>
                <a:endParaRPr lang="en-US" dirty="0"/>
              </a:p>
            </p:txBody>
          </p:sp>
        </mc:Choice>
        <mc:Fallback>
          <p:sp>
            <p:nvSpPr>
              <p:cNvPr id="3" name="Місце для вмісту 2">
                <a:extLst>
                  <a:ext uri="{FF2B5EF4-FFF2-40B4-BE49-F238E27FC236}">
                    <a16:creationId xmlns:a16="http://schemas.microsoft.com/office/drawing/2014/main" id="{C0539C50-4554-3821-8598-2B322E2ABDCC}"/>
                  </a:ext>
                </a:extLst>
              </p:cNvPr>
              <p:cNvSpPr>
                <a:spLocks noGrp="1" noRot="1" noChangeAspect="1" noMove="1" noResize="1" noEditPoints="1" noAdjustHandles="1" noChangeArrowheads="1" noChangeShapeType="1" noTextEdit="1"/>
              </p:cNvSpPr>
              <p:nvPr>
                <p:ph idx="1"/>
              </p:nvPr>
            </p:nvSpPr>
            <p:spPr>
              <a:blipFill>
                <a:blip r:embed="rId2"/>
                <a:stretch>
                  <a:fillRect l="-313" t="-2576"/>
                </a:stretch>
              </a:blipFill>
            </p:spPr>
            <p:txBody>
              <a:bodyPr/>
              <a:lstStyle/>
              <a:p>
                <a:r>
                  <a:rPr lang="uk-UA">
                    <a:noFill/>
                  </a:rPr>
                  <a:t> </a:t>
                </a:r>
              </a:p>
            </p:txBody>
          </p:sp>
        </mc:Fallback>
      </mc:AlternateContent>
    </p:spTree>
    <p:extLst>
      <p:ext uri="{BB962C8B-B14F-4D97-AF65-F5344CB8AC3E}">
        <p14:creationId xmlns:p14="http://schemas.microsoft.com/office/powerpoint/2010/main" val="2388446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F25CE0-0914-27B0-E6E7-D210E703B43E}"/>
              </a:ext>
            </a:extLst>
          </p:cNvPr>
          <p:cNvSpPr>
            <a:spLocks noGrp="1"/>
          </p:cNvSpPr>
          <p:nvPr>
            <p:ph type="title"/>
          </p:nvPr>
        </p:nvSpPr>
        <p:spPr/>
        <p:txBody>
          <a:bodyPr/>
          <a:lstStyle/>
          <a:p>
            <a:r>
              <a:rPr lang="en-US" dirty="0"/>
              <a:t>Skip-gram</a:t>
            </a:r>
            <a:endParaRPr lang="uk-UA" dirty="0"/>
          </a:p>
        </p:txBody>
      </p:sp>
      <p:sp>
        <p:nvSpPr>
          <p:cNvPr id="3" name="Місце для вмісту 2">
            <a:extLst>
              <a:ext uri="{FF2B5EF4-FFF2-40B4-BE49-F238E27FC236}">
                <a16:creationId xmlns:a16="http://schemas.microsoft.com/office/drawing/2014/main" id="{CB3A9BEC-A8F5-D15D-2F3C-3BE9B9FAAFA0}"/>
              </a:ext>
            </a:extLst>
          </p:cNvPr>
          <p:cNvSpPr>
            <a:spLocks noGrp="1"/>
          </p:cNvSpPr>
          <p:nvPr>
            <p:ph idx="1"/>
          </p:nvPr>
        </p:nvSpPr>
        <p:spPr>
          <a:xfrm>
            <a:off x="475130" y="2286000"/>
            <a:ext cx="10650070" cy="4023360"/>
          </a:xfrm>
        </p:spPr>
        <p:txBody>
          <a:bodyPr>
            <a:normAutofit/>
          </a:bodyPr>
          <a:lstStyle/>
          <a:p>
            <a:r>
              <a:rPr lang="en-US" b="1" dirty="0"/>
              <a:t>Task:</a:t>
            </a:r>
            <a:r>
              <a:rPr lang="en-US" dirty="0"/>
              <a:t> Predict context words given a single target word.</a:t>
            </a:r>
          </a:p>
          <a:p>
            <a:r>
              <a:rPr lang="en-US" b="1" dirty="0"/>
              <a:t>Example: </a:t>
            </a:r>
            <a:r>
              <a:rPr lang="en-US" dirty="0"/>
              <a:t>Consider the sentence "...the quick brown fox jumps..." and a window size of 2.</a:t>
            </a:r>
          </a:p>
          <a:p>
            <a:pPr lvl="1"/>
            <a:r>
              <a:rPr lang="en-US" dirty="0"/>
              <a:t>If the target word is "brown", the context words are the, quick, fox, jumps.</a:t>
            </a:r>
          </a:p>
          <a:p>
            <a:pPr lvl="1"/>
            <a:r>
              <a:rPr lang="en-US" dirty="0"/>
              <a:t>The model creates training pairs: (brown, quick), (brown, fox), etc.</a:t>
            </a:r>
          </a:p>
          <a:p>
            <a:r>
              <a:rPr lang="en-US" b="1" dirty="0"/>
              <a:t>How it Works:</a:t>
            </a:r>
            <a:r>
              <a:rPr lang="en-US" dirty="0"/>
              <a:t> The model takes the vector for "brown" and tries to predict "quick". The error between its prediction and the actual word "quick" is used to adjust the vectors for both "brown" and "quick" so they become slightly better predictors for each other. This is repeated for millions of pairs.</a:t>
            </a:r>
            <a:endParaRPr lang="uk-UA" dirty="0"/>
          </a:p>
        </p:txBody>
      </p:sp>
    </p:spTree>
    <p:extLst>
      <p:ext uri="{BB962C8B-B14F-4D97-AF65-F5344CB8AC3E}">
        <p14:creationId xmlns:p14="http://schemas.microsoft.com/office/powerpoint/2010/main" val="295776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4BAAE-7368-A154-A820-B5893828B99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24676DB-84A0-2862-5038-EE57429B5874}"/>
              </a:ext>
            </a:extLst>
          </p:cNvPr>
          <p:cNvSpPr>
            <a:spLocks noGrp="1"/>
          </p:cNvSpPr>
          <p:nvPr>
            <p:ph type="title"/>
          </p:nvPr>
        </p:nvSpPr>
        <p:spPr/>
        <p:txBody>
          <a:bodyPr/>
          <a:lstStyle/>
          <a:p>
            <a:r>
              <a:rPr lang="en-US" dirty="0"/>
              <a:t>Skip-gram</a:t>
            </a:r>
            <a:endParaRPr lang="uk-UA" dirty="0"/>
          </a:p>
        </p:txBody>
      </p:sp>
      <p:sp>
        <p:nvSpPr>
          <p:cNvPr id="3" name="Місце для вмісту 2">
            <a:extLst>
              <a:ext uri="{FF2B5EF4-FFF2-40B4-BE49-F238E27FC236}">
                <a16:creationId xmlns:a16="http://schemas.microsoft.com/office/drawing/2014/main" id="{DDCE79A0-D266-2E0E-C47A-DA7D8E26DEED}"/>
              </a:ext>
            </a:extLst>
          </p:cNvPr>
          <p:cNvSpPr>
            <a:spLocks noGrp="1"/>
          </p:cNvSpPr>
          <p:nvPr>
            <p:ph idx="1"/>
          </p:nvPr>
        </p:nvSpPr>
        <p:spPr>
          <a:xfrm>
            <a:off x="475130" y="2286000"/>
            <a:ext cx="6848008" cy="4023360"/>
          </a:xfrm>
        </p:spPr>
        <p:txBody>
          <a:bodyPr>
            <a:normAutofit lnSpcReduction="10000"/>
          </a:bodyPr>
          <a:lstStyle/>
          <a:p>
            <a:r>
              <a:rPr lang="en-US" b="1" dirty="0"/>
              <a:t>The Neural Network Structure</a:t>
            </a:r>
            <a:endParaRPr lang="en-US" dirty="0"/>
          </a:p>
          <a:p>
            <a:r>
              <a:rPr lang="en-US" b="1" dirty="0"/>
              <a:t>Input Layer:</a:t>
            </a:r>
            <a:r>
              <a:rPr lang="en-US" dirty="0"/>
              <a:t> Represents the input word(s).</a:t>
            </a:r>
          </a:p>
          <a:p>
            <a:r>
              <a:rPr lang="en-US" b="1" dirty="0"/>
              <a:t>Hidden Layer (also called the Projection Layer):</a:t>
            </a:r>
            <a:r>
              <a:rPr lang="en-US" dirty="0"/>
              <a:t> The size of this layer determines embedding dimension (e.g., 300). There is </a:t>
            </a:r>
            <a:r>
              <a:rPr lang="en-US" b="1" dirty="0"/>
              <a:t>no activation function</a:t>
            </a:r>
            <a:r>
              <a:rPr lang="en-US" dirty="0"/>
              <a:t> (like Sigmoid or ReLU) on this layer; it's a direct, linear projection.</a:t>
            </a:r>
          </a:p>
          <a:p>
            <a:r>
              <a:rPr lang="en-US" b="1" dirty="0"/>
              <a:t>Output Layer:</a:t>
            </a:r>
            <a:r>
              <a:rPr lang="en-US" dirty="0"/>
              <a:t> A standard </a:t>
            </a:r>
            <a:r>
              <a:rPr lang="en-US" dirty="0" err="1"/>
              <a:t>softmax</a:t>
            </a:r>
            <a:r>
              <a:rPr lang="en-US" dirty="0"/>
              <a:t> layer that produces a probability distribution over entire vocabulary.</a:t>
            </a:r>
            <a:endParaRPr lang="en-US" b="1" dirty="0"/>
          </a:p>
          <a:p>
            <a:r>
              <a:rPr lang="en-US" b="1" dirty="0"/>
              <a:t>Input: </a:t>
            </a:r>
            <a:r>
              <a:rPr lang="en-US" dirty="0"/>
              <a:t>A single word (e.g., "brown"), represented as a one-hot vector (a vector of all zeros except for a 1 at the index for "brown").</a:t>
            </a:r>
            <a:endParaRPr lang="uk-UA" dirty="0"/>
          </a:p>
        </p:txBody>
      </p:sp>
      <p:pic>
        <p:nvPicPr>
          <p:cNvPr id="3075" name="Picture 3">
            <a:extLst>
              <a:ext uri="{FF2B5EF4-FFF2-40B4-BE49-F238E27FC236}">
                <a16:creationId xmlns:a16="http://schemas.microsoft.com/office/drawing/2014/main" id="{88AF6D87-FDF8-79D5-5BD2-4EA98DA692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23137" y="0"/>
            <a:ext cx="48688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8786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36BF2C-C040-F1EA-8EFF-9DB94BC50265}"/>
              </a:ext>
            </a:extLst>
          </p:cNvPr>
          <p:cNvSpPr>
            <a:spLocks noGrp="1"/>
          </p:cNvSpPr>
          <p:nvPr>
            <p:ph type="title"/>
          </p:nvPr>
        </p:nvSpPr>
        <p:spPr/>
        <p:txBody>
          <a:bodyPr/>
          <a:lstStyle/>
          <a:p>
            <a:r>
              <a:rPr lang="en-US" dirty="0"/>
              <a:t>Continuous Bag-of-Words (CBOW):</a:t>
            </a:r>
            <a:endParaRPr lang="uk-UA" dirty="0"/>
          </a:p>
        </p:txBody>
      </p:sp>
      <p:sp>
        <p:nvSpPr>
          <p:cNvPr id="3" name="Місце для вмісту 2">
            <a:extLst>
              <a:ext uri="{FF2B5EF4-FFF2-40B4-BE49-F238E27FC236}">
                <a16:creationId xmlns:a16="http://schemas.microsoft.com/office/drawing/2014/main" id="{E45A32CB-6EA4-4F57-ECA9-F9121D8E6BD7}"/>
              </a:ext>
            </a:extLst>
          </p:cNvPr>
          <p:cNvSpPr>
            <a:spLocks noGrp="1"/>
          </p:cNvSpPr>
          <p:nvPr>
            <p:ph idx="1"/>
          </p:nvPr>
        </p:nvSpPr>
        <p:spPr>
          <a:xfrm>
            <a:off x="1024128" y="1909482"/>
            <a:ext cx="5343055" cy="4399878"/>
          </a:xfrm>
        </p:spPr>
        <p:txBody>
          <a:bodyPr>
            <a:normAutofit/>
          </a:bodyPr>
          <a:lstStyle/>
          <a:p>
            <a:r>
              <a:rPr lang="en-US" b="1" dirty="0"/>
              <a:t>Task: </a:t>
            </a:r>
            <a:r>
              <a:rPr lang="en-US" dirty="0"/>
              <a:t>Predict a target word from its surrounding context words.</a:t>
            </a:r>
          </a:p>
          <a:p>
            <a:r>
              <a:rPr lang="en-US" b="1" dirty="0"/>
              <a:t>Example: </a:t>
            </a:r>
            <a:r>
              <a:rPr lang="en-US" dirty="0"/>
              <a:t>Using the same sentence "...the quick brown fox jumps..." and a window size of 2.</a:t>
            </a:r>
          </a:p>
          <a:p>
            <a:pPr lvl="1"/>
            <a:r>
              <a:rPr lang="en-US" dirty="0"/>
              <a:t>The context words are [the, quick, fox, jumps].</a:t>
            </a:r>
          </a:p>
          <a:p>
            <a:pPr lvl="1"/>
            <a:r>
              <a:rPr lang="en-US" dirty="0"/>
              <a:t>The target word to predict is "brown".</a:t>
            </a:r>
          </a:p>
          <a:p>
            <a:r>
              <a:rPr lang="en-US" b="1" dirty="0"/>
              <a:t>How it Works: </a:t>
            </a:r>
            <a:r>
              <a:rPr lang="en-US" dirty="0"/>
              <a:t>The model takes the vectors for all the context words, typically averages them to get a single context vector, and then uses that vector to predict the middle word, "brown". The error is then used to adjust the vectors of all the context words.</a:t>
            </a:r>
            <a:endParaRPr lang="uk-UA" dirty="0"/>
          </a:p>
        </p:txBody>
      </p:sp>
      <p:pic>
        <p:nvPicPr>
          <p:cNvPr id="4099" name="Picture 3" descr="Example of a CBOW Model">
            <a:extLst>
              <a:ext uri="{FF2B5EF4-FFF2-40B4-BE49-F238E27FC236}">
                <a16:creationId xmlns:a16="http://schemas.microsoft.com/office/drawing/2014/main" id="{E165EAB3-0716-02EF-0829-539E975FCA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7183" y="2084832"/>
            <a:ext cx="5715000" cy="3914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0973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EBB624-6E86-B8EF-D678-20920F38F581}"/>
              </a:ext>
            </a:extLst>
          </p:cNvPr>
          <p:cNvSpPr>
            <a:spLocks noGrp="1"/>
          </p:cNvSpPr>
          <p:nvPr>
            <p:ph type="title"/>
          </p:nvPr>
        </p:nvSpPr>
        <p:spPr/>
        <p:txBody>
          <a:bodyPr/>
          <a:lstStyle/>
          <a:p>
            <a:r>
              <a:rPr lang="en-US" dirty="0"/>
              <a:t>Continuous Bag-of-Words (CBOW):</a:t>
            </a:r>
            <a:endParaRPr lang="uk-UA" dirty="0"/>
          </a:p>
        </p:txBody>
      </p:sp>
      <p:sp>
        <p:nvSpPr>
          <p:cNvPr id="3" name="Місце для вмісту 2">
            <a:extLst>
              <a:ext uri="{FF2B5EF4-FFF2-40B4-BE49-F238E27FC236}">
                <a16:creationId xmlns:a16="http://schemas.microsoft.com/office/drawing/2014/main" id="{E59843D0-EB79-5363-826A-8386DCFAA2D2}"/>
              </a:ext>
            </a:extLst>
          </p:cNvPr>
          <p:cNvSpPr>
            <a:spLocks noGrp="1"/>
          </p:cNvSpPr>
          <p:nvPr>
            <p:ph idx="1"/>
          </p:nvPr>
        </p:nvSpPr>
        <p:spPr>
          <a:xfrm>
            <a:off x="1024129" y="2286000"/>
            <a:ext cx="4946366" cy="4023360"/>
          </a:xfrm>
        </p:spPr>
        <p:txBody>
          <a:bodyPr/>
          <a:lstStyle/>
          <a:p>
            <a:r>
              <a:rPr lang="en-US" b="1" dirty="0"/>
              <a:t>Input: </a:t>
            </a:r>
            <a:r>
              <a:rPr lang="en-US" dirty="0"/>
              <a:t>The surrounding context words (e.g., ["the", "quick", "fox", "jumps"]). The vectors for these words are retrieved from the hidden layer and averaged to create a single input vector.</a:t>
            </a:r>
            <a:endParaRPr lang="uk-UA" dirty="0"/>
          </a:p>
        </p:txBody>
      </p:sp>
      <p:pic>
        <p:nvPicPr>
          <p:cNvPr id="7174" name="Picture 6" descr="CBOW Architecture">
            <a:extLst>
              <a:ext uri="{FF2B5EF4-FFF2-40B4-BE49-F238E27FC236}">
                <a16:creationId xmlns:a16="http://schemas.microsoft.com/office/drawing/2014/main" id="{3B6B28B8-A573-79DA-BDA2-78300C6DA4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4164" y="1767728"/>
            <a:ext cx="6286500" cy="4057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009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8DD759-7C6A-F98C-DC82-354C2D81341D}"/>
              </a:ext>
            </a:extLst>
          </p:cNvPr>
          <p:cNvSpPr>
            <a:spLocks noGrp="1"/>
          </p:cNvSpPr>
          <p:nvPr>
            <p:ph type="title"/>
          </p:nvPr>
        </p:nvSpPr>
        <p:spPr/>
        <p:txBody>
          <a:bodyPr/>
          <a:lstStyle/>
          <a:p>
            <a:r>
              <a:rPr lang="en-US" dirty="0"/>
              <a:t>RNN</a:t>
            </a:r>
            <a:endParaRPr lang="uk-UA" dirty="0"/>
          </a:p>
        </p:txBody>
      </p:sp>
      <p:sp>
        <p:nvSpPr>
          <p:cNvPr id="3" name="Місце для вмісту 2">
            <a:extLst>
              <a:ext uri="{FF2B5EF4-FFF2-40B4-BE49-F238E27FC236}">
                <a16:creationId xmlns:a16="http://schemas.microsoft.com/office/drawing/2014/main" id="{C29CFDA7-33EE-E0E0-9996-841E0AC2F73D}"/>
              </a:ext>
            </a:extLst>
          </p:cNvPr>
          <p:cNvSpPr>
            <a:spLocks noGrp="1"/>
          </p:cNvSpPr>
          <p:nvPr>
            <p:ph idx="1"/>
          </p:nvPr>
        </p:nvSpPr>
        <p:spPr/>
        <p:txBody>
          <a:bodyPr/>
          <a:lstStyle/>
          <a:p>
            <a:r>
              <a:rPr lang="en-US" dirty="0"/>
              <a:t>An RNN is designed to work with sequences. It processes one element at a time (e.g., one word) while maintaining a "hidden state" — a memory of what it has seen so far.</a:t>
            </a:r>
          </a:p>
          <a:p>
            <a:r>
              <a:rPr lang="en-US" dirty="0"/>
              <a:t>An RNN cell takes two inputs at each step t:</a:t>
            </a:r>
          </a:p>
          <a:p>
            <a:pPr lvl="1" fontAlgn="base"/>
            <a:r>
              <a:rPr lang="en-US" dirty="0"/>
              <a:t>The input at that step (e.g., the word embedding for </a:t>
            </a:r>
            <a:r>
              <a:rPr lang="en-US" dirty="0" err="1"/>
              <a:t>x_t</a:t>
            </a:r>
            <a:r>
              <a:rPr lang="en-US" dirty="0"/>
              <a:t>).</a:t>
            </a:r>
          </a:p>
          <a:p>
            <a:pPr lvl="1" fontAlgn="base"/>
            <a:r>
              <a:rPr lang="en-US" dirty="0"/>
              <a:t>The hidden state from the previous step (h_{t-1}).</a:t>
            </a:r>
          </a:p>
          <a:p>
            <a:r>
              <a:rPr lang="en-US" dirty="0"/>
              <a:t>It then produces two outputs:</a:t>
            </a:r>
          </a:p>
          <a:p>
            <a:pPr lvl="1" fontAlgn="base"/>
            <a:r>
              <a:rPr lang="en-US" dirty="0"/>
              <a:t>A prediction for the current step (</a:t>
            </a:r>
            <a:r>
              <a:rPr lang="en-US" dirty="0" err="1"/>
              <a:t>output_t</a:t>
            </a:r>
            <a:r>
              <a:rPr lang="en-US" dirty="0"/>
              <a:t>).</a:t>
            </a:r>
          </a:p>
          <a:p>
            <a:pPr lvl="1"/>
            <a:r>
              <a:rPr lang="en-US" dirty="0"/>
              <a:t>The new hidden state to be passed to the next step (</a:t>
            </a:r>
            <a:r>
              <a:rPr lang="en-US" dirty="0" err="1"/>
              <a:t>h_t</a:t>
            </a:r>
            <a:r>
              <a:rPr lang="en-US" dirty="0"/>
              <a:t>).</a:t>
            </a:r>
            <a:endParaRPr lang="uk-UA" dirty="0"/>
          </a:p>
        </p:txBody>
      </p:sp>
    </p:spTree>
    <p:extLst>
      <p:ext uri="{BB962C8B-B14F-4D97-AF65-F5344CB8AC3E}">
        <p14:creationId xmlns:p14="http://schemas.microsoft.com/office/powerpoint/2010/main" val="522948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AB3A5B-AE8A-0F69-16C1-CE98909060AD}"/>
              </a:ext>
            </a:extLst>
          </p:cNvPr>
          <p:cNvSpPr>
            <a:spLocks noGrp="1"/>
          </p:cNvSpPr>
          <p:nvPr>
            <p:ph type="title"/>
          </p:nvPr>
        </p:nvSpPr>
        <p:spPr/>
        <p:txBody>
          <a:bodyPr/>
          <a:lstStyle/>
          <a:p>
            <a:r>
              <a:rPr lang="en-US" dirty="0"/>
              <a:t>RNN</a:t>
            </a:r>
            <a:endParaRPr lang="uk-UA" dirty="0"/>
          </a:p>
        </p:txBody>
      </p:sp>
      <p:sp>
        <p:nvSpPr>
          <p:cNvPr id="3" name="Місце для вмісту 2">
            <a:extLst>
              <a:ext uri="{FF2B5EF4-FFF2-40B4-BE49-F238E27FC236}">
                <a16:creationId xmlns:a16="http://schemas.microsoft.com/office/drawing/2014/main" id="{C45A0CFF-0304-E8EC-B0C6-C353A9809EAE}"/>
              </a:ext>
            </a:extLst>
          </p:cNvPr>
          <p:cNvSpPr>
            <a:spLocks noGrp="1"/>
          </p:cNvSpPr>
          <p:nvPr>
            <p:ph idx="1"/>
          </p:nvPr>
        </p:nvSpPr>
        <p:spPr>
          <a:xfrm>
            <a:off x="1024129" y="2286000"/>
            <a:ext cx="4560884" cy="4023360"/>
          </a:xfrm>
        </p:spPr>
        <p:txBody>
          <a:bodyPr/>
          <a:lstStyle/>
          <a:p>
            <a:r>
              <a:rPr lang="en-US" dirty="0"/>
              <a:t>The “rolled” visual of the RNN represents the whole neural network, or rather the entire predicted phrase. The “unrolled” visual represents the individual layers, or time steps, of the neural network. Each layer maps to a single word in a phrase. Prior inputs, would be represented as a hidden state in the third timestep to predict the output in the sequence.</a:t>
            </a:r>
            <a:endParaRPr lang="uk-UA" dirty="0"/>
          </a:p>
        </p:txBody>
      </p:sp>
      <p:pic>
        <p:nvPicPr>
          <p:cNvPr id="9218" name="Picture 2">
            <a:extLst>
              <a:ext uri="{FF2B5EF4-FFF2-40B4-BE49-F238E27FC236}">
                <a16:creationId xmlns:a16="http://schemas.microsoft.com/office/drawing/2014/main" id="{B3A921FD-239C-6151-EE61-4EB0576BFF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874" y="1753721"/>
            <a:ext cx="6667500" cy="3771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9966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8F95EFB-2D27-F760-B343-3DC2A3F2F52C}"/>
              </a:ext>
            </a:extLst>
          </p:cNvPr>
          <p:cNvSpPr>
            <a:spLocks noGrp="1"/>
          </p:cNvSpPr>
          <p:nvPr>
            <p:ph type="title"/>
          </p:nvPr>
        </p:nvSpPr>
        <p:spPr/>
        <p:txBody>
          <a:bodyPr/>
          <a:lstStyle/>
          <a:p>
            <a:r>
              <a:rPr lang="en-US" dirty="0"/>
              <a:t>RNN</a:t>
            </a:r>
            <a:endParaRPr lang="uk-UA" dirty="0"/>
          </a:p>
        </p:txBody>
      </p:sp>
      <p:sp>
        <p:nvSpPr>
          <p:cNvPr id="3" name="Місце для вмісту 2">
            <a:extLst>
              <a:ext uri="{FF2B5EF4-FFF2-40B4-BE49-F238E27FC236}">
                <a16:creationId xmlns:a16="http://schemas.microsoft.com/office/drawing/2014/main" id="{64EBBF90-3ED8-DB33-A05D-CEE8E74C8C92}"/>
              </a:ext>
            </a:extLst>
          </p:cNvPr>
          <p:cNvSpPr>
            <a:spLocks noGrp="1"/>
          </p:cNvSpPr>
          <p:nvPr>
            <p:ph idx="1"/>
          </p:nvPr>
        </p:nvSpPr>
        <p:spPr/>
        <p:txBody>
          <a:bodyPr/>
          <a:lstStyle/>
          <a:p>
            <a:endParaRPr lang="uk-UA"/>
          </a:p>
        </p:txBody>
      </p:sp>
      <p:pic>
        <p:nvPicPr>
          <p:cNvPr id="10244" name="Picture 4">
            <a:extLst>
              <a:ext uri="{FF2B5EF4-FFF2-40B4-BE49-F238E27FC236}">
                <a16:creationId xmlns:a16="http://schemas.microsoft.com/office/drawing/2014/main" id="{FBCC0B29-5339-C099-A9E9-633C5DFDAA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3568" y="404241"/>
            <a:ext cx="6667500" cy="1781175"/>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a:extLst>
              <a:ext uri="{FF2B5EF4-FFF2-40B4-BE49-F238E27FC236}">
                <a16:creationId xmlns:a16="http://schemas.microsoft.com/office/drawing/2014/main" id="{9C9C9D07-82D3-FF25-6DAC-DEBAC14C14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0414" y="2265807"/>
            <a:ext cx="6667500" cy="4410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2113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0B8DA05-0770-D6B3-D28D-3820CE0DB835}"/>
              </a:ext>
            </a:extLst>
          </p:cNvPr>
          <p:cNvSpPr>
            <a:spLocks noGrp="1"/>
          </p:cNvSpPr>
          <p:nvPr>
            <p:ph type="title"/>
          </p:nvPr>
        </p:nvSpPr>
        <p:spPr/>
        <p:txBody>
          <a:bodyPr/>
          <a:lstStyle/>
          <a:p>
            <a:r>
              <a:rPr lang="en-US" dirty="0"/>
              <a:t>RNN Architectures</a:t>
            </a:r>
            <a:endParaRPr lang="uk-UA" dirty="0"/>
          </a:p>
        </p:txBody>
      </p:sp>
      <p:sp>
        <p:nvSpPr>
          <p:cNvPr id="3" name="Місце для вмісту 2">
            <a:extLst>
              <a:ext uri="{FF2B5EF4-FFF2-40B4-BE49-F238E27FC236}">
                <a16:creationId xmlns:a16="http://schemas.microsoft.com/office/drawing/2014/main" id="{1A471591-66AB-0328-DC59-053C83923DA8}"/>
              </a:ext>
            </a:extLst>
          </p:cNvPr>
          <p:cNvSpPr>
            <a:spLocks noGrp="1"/>
          </p:cNvSpPr>
          <p:nvPr>
            <p:ph idx="1"/>
          </p:nvPr>
        </p:nvSpPr>
        <p:spPr/>
        <p:txBody>
          <a:bodyPr/>
          <a:lstStyle/>
          <a:p>
            <a:r>
              <a:rPr lang="en-US" dirty="0"/>
              <a:t>RNNs can be structured in various ways to suit different tasks:</a:t>
            </a:r>
          </a:p>
          <a:p>
            <a:pPr lvl="1"/>
            <a:r>
              <a:rPr lang="en-US" b="1" dirty="0"/>
              <a:t>One-to-One</a:t>
            </a:r>
            <a:r>
              <a:rPr lang="en-US" dirty="0"/>
              <a:t>: Standard neural network (e.g., image classification).</a:t>
            </a:r>
          </a:p>
          <a:p>
            <a:pPr lvl="1"/>
            <a:r>
              <a:rPr lang="en-US" b="1" dirty="0"/>
              <a:t>One-to-Many</a:t>
            </a:r>
            <a:r>
              <a:rPr lang="en-US" dirty="0"/>
              <a:t>: Single input, sequence output (e.g., image captioning).</a:t>
            </a:r>
          </a:p>
          <a:p>
            <a:pPr lvl="1"/>
            <a:r>
              <a:rPr lang="en-US" b="1" dirty="0"/>
              <a:t>Many-to-One</a:t>
            </a:r>
            <a:r>
              <a:rPr lang="en-US" dirty="0"/>
              <a:t>: Sequence input, single output (e.g., sentiment analysis).</a:t>
            </a:r>
          </a:p>
          <a:p>
            <a:pPr lvl="1"/>
            <a:r>
              <a:rPr lang="en-US" b="1" dirty="0"/>
              <a:t>Many-to-Many (Same Length)</a:t>
            </a:r>
            <a:r>
              <a:rPr lang="en-US" dirty="0"/>
              <a:t>: Sequence input and output of the same length (e.g., named entity recognition).</a:t>
            </a:r>
          </a:p>
          <a:p>
            <a:pPr lvl="1"/>
            <a:r>
              <a:rPr lang="en-US" b="1" dirty="0"/>
              <a:t>Many-to-Many (Different Length)</a:t>
            </a:r>
            <a:r>
              <a:rPr lang="en-US" dirty="0"/>
              <a:t>: Sequence input and output of different lengths (e.g., machine translation).</a:t>
            </a:r>
          </a:p>
          <a:p>
            <a:endParaRPr lang="uk-UA" dirty="0"/>
          </a:p>
        </p:txBody>
      </p:sp>
      <p:pic>
        <p:nvPicPr>
          <p:cNvPr id="11268" name="Picture 4">
            <a:extLst>
              <a:ext uri="{FF2B5EF4-FFF2-40B4-BE49-F238E27FC236}">
                <a16:creationId xmlns:a16="http://schemas.microsoft.com/office/drawing/2014/main" id="{D8906635-4E8B-B91D-A7A9-5190BEC96F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5855" y="24922"/>
            <a:ext cx="3275749" cy="2160494"/>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a:extLst>
              <a:ext uri="{FF2B5EF4-FFF2-40B4-BE49-F238E27FC236}">
                <a16:creationId xmlns:a16="http://schemas.microsoft.com/office/drawing/2014/main" id="{563DF124-3750-223A-22AB-CF6BD9B1AD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11604" y="95182"/>
            <a:ext cx="3379694" cy="20902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8202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388E363-77C1-51D9-63BD-EF9F4B873D75}"/>
              </a:ext>
            </a:extLst>
          </p:cNvPr>
          <p:cNvSpPr>
            <a:spLocks noGrp="1"/>
          </p:cNvSpPr>
          <p:nvPr>
            <p:ph type="title"/>
          </p:nvPr>
        </p:nvSpPr>
        <p:spPr/>
        <p:txBody>
          <a:bodyPr/>
          <a:lstStyle/>
          <a:p>
            <a:r>
              <a:rPr lang="en-US" dirty="0"/>
              <a:t>Vanishing gradient</a:t>
            </a:r>
            <a:endParaRPr lang="uk-UA" dirty="0"/>
          </a:p>
        </p:txBody>
      </p:sp>
      <p:sp>
        <p:nvSpPr>
          <p:cNvPr id="3" name="Місце для вмісту 2">
            <a:extLst>
              <a:ext uri="{FF2B5EF4-FFF2-40B4-BE49-F238E27FC236}">
                <a16:creationId xmlns:a16="http://schemas.microsoft.com/office/drawing/2014/main" id="{EE8052F1-51EB-262A-A7F2-A1DD0DCAD5BF}"/>
              </a:ext>
            </a:extLst>
          </p:cNvPr>
          <p:cNvSpPr>
            <a:spLocks noGrp="1"/>
          </p:cNvSpPr>
          <p:nvPr>
            <p:ph idx="1"/>
          </p:nvPr>
        </p:nvSpPr>
        <p:spPr>
          <a:xfrm>
            <a:off x="134472" y="2286000"/>
            <a:ext cx="5895412" cy="2008094"/>
          </a:xfrm>
        </p:spPr>
        <p:txBody>
          <a:bodyPr>
            <a:normAutofit/>
          </a:bodyPr>
          <a:lstStyle/>
          <a:p>
            <a:pPr fontAlgn="base"/>
            <a:r>
              <a:rPr lang="en-US" b="1" dirty="0"/>
              <a:t>What are Gradients?</a:t>
            </a:r>
            <a:r>
              <a:rPr lang="en-US" dirty="0"/>
              <a:t> Think of the gradient as the "error signal" that tells each weight in the network how to update itself to improve the model's overall performance. This signal is passed backward through the network during training in a process called backpropagation.</a:t>
            </a:r>
          </a:p>
        </p:txBody>
      </p:sp>
      <p:pic>
        <p:nvPicPr>
          <p:cNvPr id="12290" name="Picture 2" descr="Vanishing Gradient Problem in Deep Learning: Understanding, Intuition, and  Solutions | by Amanatullah | Medium">
            <a:extLst>
              <a:ext uri="{FF2B5EF4-FFF2-40B4-BE49-F238E27FC236}">
                <a16:creationId xmlns:a16="http://schemas.microsoft.com/office/drawing/2014/main" id="{DA56A395-388F-3607-10DE-6C5462E70D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9884" y="0"/>
            <a:ext cx="6027644" cy="3821998"/>
          </a:xfrm>
          <a:prstGeom prst="rect">
            <a:avLst/>
          </a:prstGeom>
          <a:noFill/>
          <a:extLst>
            <a:ext uri="{909E8E84-426E-40DD-AFC4-6F175D3DCCD1}">
              <a14:hiddenFill xmlns:a14="http://schemas.microsoft.com/office/drawing/2010/main">
                <a:solidFill>
                  <a:srgbClr val="FFFFFF"/>
                </a:solidFill>
              </a14:hiddenFill>
            </a:ext>
          </a:extLst>
        </p:spPr>
      </p:pic>
      <p:sp>
        <p:nvSpPr>
          <p:cNvPr id="4" name="Місце для вмісту 2">
            <a:extLst>
              <a:ext uri="{FF2B5EF4-FFF2-40B4-BE49-F238E27FC236}">
                <a16:creationId xmlns:a16="http://schemas.microsoft.com/office/drawing/2014/main" id="{9FA36EA6-FE35-5600-69DF-037677EB91E3}"/>
              </a:ext>
            </a:extLst>
          </p:cNvPr>
          <p:cNvSpPr txBox="1">
            <a:spLocks/>
          </p:cNvSpPr>
          <p:nvPr/>
        </p:nvSpPr>
        <p:spPr>
          <a:xfrm>
            <a:off x="134472" y="4264690"/>
            <a:ext cx="11923056" cy="2008094"/>
          </a:xfrm>
          <a:prstGeom prst="rect">
            <a:avLst/>
          </a:prstGeom>
        </p:spPr>
        <p:txBody>
          <a:bodyPr vert="horz" lIns="45720" tIns="45720" rIns="45720" bIns="45720" rtlCol="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fontAlgn="base"/>
            <a:r>
              <a:rPr lang="en-US" b="1" dirty="0"/>
              <a:t>Vanishing Gradients:</a:t>
            </a:r>
            <a:r>
              <a:rPr lang="en-US" dirty="0"/>
              <a:t> In a deep network or a long sequence, as the gradient is backpropagated from the end to the beginning, it's repeatedly multiplied by small numbers. This can cause the signal to shrink exponentially until it becomes practically zero.</a:t>
            </a:r>
          </a:p>
          <a:p>
            <a:pPr fontAlgn="base"/>
            <a:r>
              <a:rPr lang="en-US" b="1" dirty="0"/>
              <a:t>Impact on RNNs:</a:t>
            </a:r>
            <a:r>
              <a:rPr lang="en-US" dirty="0"/>
              <a:t> The error signal from the end of a long sentence fades away before it can reach the beginning. This means the network can't learn dependencies between words that are far apart. The model effectively has </a:t>
            </a:r>
            <a:r>
              <a:rPr lang="en-US" b="1" dirty="0"/>
              <a:t>short-term memory</a:t>
            </a:r>
            <a:r>
              <a:rPr lang="en-US" dirty="0"/>
              <a:t>—it forgets what it saw at the start of the sequence.</a:t>
            </a:r>
          </a:p>
        </p:txBody>
      </p:sp>
    </p:spTree>
    <p:extLst>
      <p:ext uri="{BB962C8B-B14F-4D97-AF65-F5344CB8AC3E}">
        <p14:creationId xmlns:p14="http://schemas.microsoft.com/office/powerpoint/2010/main" val="4171387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89DEB26-C4D2-98B0-57E2-CA5DD5035776}"/>
              </a:ext>
            </a:extLst>
          </p:cNvPr>
          <p:cNvSpPr>
            <a:spLocks noGrp="1"/>
          </p:cNvSpPr>
          <p:nvPr>
            <p:ph type="title"/>
          </p:nvPr>
        </p:nvSpPr>
        <p:spPr/>
        <p:txBody>
          <a:bodyPr/>
          <a:lstStyle/>
          <a:p>
            <a:r>
              <a:rPr lang="en-US" dirty="0"/>
              <a:t>LSTM</a:t>
            </a:r>
            <a:endParaRPr lang="uk-UA" dirty="0"/>
          </a:p>
        </p:txBody>
      </p:sp>
      <p:sp>
        <p:nvSpPr>
          <p:cNvPr id="3" name="Місце для вмісту 2">
            <a:extLst>
              <a:ext uri="{FF2B5EF4-FFF2-40B4-BE49-F238E27FC236}">
                <a16:creationId xmlns:a16="http://schemas.microsoft.com/office/drawing/2014/main" id="{F810B64A-4515-406C-33E1-E8BC7B618DFD}"/>
              </a:ext>
            </a:extLst>
          </p:cNvPr>
          <p:cNvSpPr>
            <a:spLocks noGrp="1"/>
          </p:cNvSpPr>
          <p:nvPr>
            <p:ph idx="1"/>
          </p:nvPr>
        </p:nvSpPr>
        <p:spPr/>
        <p:txBody>
          <a:bodyPr>
            <a:normAutofit lnSpcReduction="10000"/>
          </a:bodyPr>
          <a:lstStyle/>
          <a:p>
            <a:r>
              <a:rPr lang="en-US" dirty="0"/>
              <a:t>LSTMs are a special kind of RNN, explicitly designed to combat the vanishing gradient problem. Their default behavior is to remember things for long periods.</a:t>
            </a:r>
          </a:p>
          <a:p>
            <a:r>
              <a:rPr lang="en-US" dirty="0"/>
              <a:t>An LSTM cell is more complex than a standard RNN cell. It contains a cell state (like a memory conveyor belt) and three "gates" that act as controllers.</a:t>
            </a:r>
          </a:p>
          <a:p>
            <a:pPr lvl="1" fontAlgn="base"/>
            <a:r>
              <a:rPr lang="en-US" b="1" dirty="0"/>
              <a:t>Forget Gate:</a:t>
            </a:r>
            <a:r>
              <a:rPr lang="en-US" dirty="0"/>
              <a:t> Looks at the previous hidden state and the current input and decides what information to throw away from the cell state.</a:t>
            </a:r>
          </a:p>
          <a:p>
            <a:pPr lvl="1" fontAlgn="base"/>
            <a:r>
              <a:rPr lang="en-US" b="1" dirty="0"/>
              <a:t>Input Gate:</a:t>
            </a:r>
            <a:r>
              <a:rPr lang="en-US" dirty="0"/>
              <a:t> Decides what new information from the current input is important and should be stored in the cell state.</a:t>
            </a:r>
          </a:p>
          <a:p>
            <a:pPr lvl="1" fontAlgn="base"/>
            <a:r>
              <a:rPr lang="en-US" b="1" dirty="0"/>
              <a:t>Output Gate:</a:t>
            </a:r>
            <a:r>
              <a:rPr lang="en-US" dirty="0"/>
              <a:t> Decides what part of the cell state should be used to make the output prediction for the current time step.</a:t>
            </a:r>
          </a:p>
          <a:p>
            <a:r>
              <a:rPr lang="en-US" b="1" dirty="0"/>
              <a:t>THE RESULT:</a:t>
            </a:r>
            <a:r>
              <a:rPr lang="en-US" dirty="0"/>
              <a:t> By learning what to remember, what to forget, and what to output, LSTMs can successfully capture dependencies and relationships over very long sequences, making them incredibly powerful for most modern NLP tasks.</a:t>
            </a:r>
            <a:endParaRPr lang="uk-UA" dirty="0"/>
          </a:p>
        </p:txBody>
      </p:sp>
    </p:spTree>
    <p:extLst>
      <p:ext uri="{BB962C8B-B14F-4D97-AF65-F5344CB8AC3E}">
        <p14:creationId xmlns:p14="http://schemas.microsoft.com/office/powerpoint/2010/main" val="194759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83228F-7D1E-9492-52BE-3FE2B97499DD}"/>
              </a:ext>
            </a:extLst>
          </p:cNvPr>
          <p:cNvSpPr>
            <a:spLocks noGrp="1"/>
          </p:cNvSpPr>
          <p:nvPr>
            <p:ph type="title"/>
          </p:nvPr>
        </p:nvSpPr>
        <p:spPr/>
        <p:txBody>
          <a:bodyPr/>
          <a:lstStyle/>
          <a:p>
            <a:r>
              <a:rPr lang="en-US" dirty="0"/>
              <a:t>LSTM</a:t>
            </a:r>
            <a:endParaRPr lang="uk-UA" dirty="0"/>
          </a:p>
        </p:txBody>
      </p:sp>
      <p:pic>
        <p:nvPicPr>
          <p:cNvPr id="14338" name="Picture 2" descr="Рекуррентные нейронные сети (RNN) с Keras / Хабр">
            <a:extLst>
              <a:ext uri="{FF2B5EF4-FFF2-40B4-BE49-F238E27FC236}">
                <a16:creationId xmlns:a16="http://schemas.microsoft.com/office/drawing/2014/main" id="{ED528A23-8AC0-BC1F-C664-653C7CC461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71" y="1909483"/>
            <a:ext cx="12003857" cy="3610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39034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741DD0-50E4-815E-223D-D441BFBD5A29}"/>
              </a:ext>
            </a:extLst>
          </p:cNvPr>
          <p:cNvSpPr>
            <a:spLocks noGrp="1"/>
          </p:cNvSpPr>
          <p:nvPr>
            <p:ph type="title"/>
          </p:nvPr>
        </p:nvSpPr>
        <p:spPr/>
        <p:txBody>
          <a:bodyPr/>
          <a:lstStyle/>
          <a:p>
            <a:r>
              <a:rPr lang="en-US" dirty="0"/>
              <a:t>LSTM: Forget gate</a:t>
            </a:r>
            <a:endParaRPr lang="uk-UA" dirty="0"/>
          </a:p>
        </p:txBody>
      </p:sp>
      <p:sp>
        <p:nvSpPr>
          <p:cNvPr id="3" name="Місце для вмісту 2">
            <a:extLst>
              <a:ext uri="{FF2B5EF4-FFF2-40B4-BE49-F238E27FC236}">
                <a16:creationId xmlns:a16="http://schemas.microsoft.com/office/drawing/2014/main" id="{C99376F4-8358-DB24-10B9-B933B4EF48AF}"/>
              </a:ext>
            </a:extLst>
          </p:cNvPr>
          <p:cNvSpPr>
            <a:spLocks noGrp="1"/>
          </p:cNvSpPr>
          <p:nvPr>
            <p:ph idx="1"/>
          </p:nvPr>
        </p:nvSpPr>
        <p:spPr>
          <a:xfrm>
            <a:off x="1024129" y="2286000"/>
            <a:ext cx="8370884" cy="4023360"/>
          </a:xfrm>
        </p:spPr>
        <p:txBody>
          <a:bodyPr>
            <a:normAutofit fontScale="77500" lnSpcReduction="20000"/>
          </a:bodyPr>
          <a:lstStyle/>
          <a:p>
            <a:pPr fontAlgn="base"/>
            <a:r>
              <a:rPr lang="en-US" dirty="0"/>
              <a:t>The information that is no longer useful in the cell state is removed with the forget gate. Two inputs </a:t>
            </a:r>
            <a:r>
              <a:rPr lang="en-US" dirty="0" err="1"/>
              <a:t>xt</a:t>
            </a:r>
            <a:r>
              <a:rPr lang="en-US" dirty="0"/>
              <a:t>​ (input at the particular time) and ht−1 (previous cell output) are fed to the gate and multiplied with weight matrices followed by the addition of bias. The resultant is passed through an activation function which gives a binary output. If for a particular cell state the output is 0, the piece of information is forgotten and for output 1, the information is retained for future use. </a:t>
            </a:r>
          </a:p>
          <a:p>
            <a:pPr fontAlgn="base"/>
            <a:r>
              <a:rPr lang="en-US" dirty="0"/>
              <a:t>The equation for the forget gate is:</a:t>
            </a:r>
          </a:p>
          <a:p>
            <a:pPr fontAlgn="base"/>
            <a:br>
              <a:rPr lang="en-US" dirty="0"/>
            </a:br>
            <a:br>
              <a:rPr lang="en-US" dirty="0"/>
            </a:br>
            <a:r>
              <a:rPr lang="en-US" dirty="0"/>
              <a:t>Where:</a:t>
            </a:r>
          </a:p>
          <a:p>
            <a:pPr fontAlgn="base"/>
            <a:r>
              <a:rPr lang="en-US" dirty="0" err="1"/>
              <a:t>Wf</a:t>
            </a:r>
            <a:r>
              <a:rPr lang="en-US" dirty="0"/>
              <a:t> represents the weight matrix associated with the forget gate.</a:t>
            </a:r>
          </a:p>
          <a:p>
            <a:pPr fontAlgn="base"/>
            <a:r>
              <a:rPr lang="en-US" dirty="0"/>
              <a:t>                  - denotes the concatenation of the current input and the previous hidden state.</a:t>
            </a:r>
          </a:p>
          <a:p>
            <a:pPr fontAlgn="base"/>
            <a:r>
              <a:rPr lang="en-US" dirty="0"/>
              <a:t>bf</a:t>
            </a:r>
            <a:r>
              <a:rPr lang="en-US" i="1" dirty="0"/>
              <a:t> </a:t>
            </a:r>
            <a:r>
              <a:rPr lang="en-US" dirty="0"/>
              <a:t>is the bias with the forget gate.</a:t>
            </a:r>
          </a:p>
          <a:p>
            <a:pPr fontAlgn="base"/>
            <a:r>
              <a:rPr lang="en-US" dirty="0"/>
              <a:t>σ is the sigmoid activation function.</a:t>
            </a:r>
          </a:p>
          <a:p>
            <a:endParaRPr lang="uk-UA" dirty="0"/>
          </a:p>
        </p:txBody>
      </p:sp>
      <p:pic>
        <p:nvPicPr>
          <p:cNvPr id="5" name="Рисунок 4">
            <a:extLst>
              <a:ext uri="{FF2B5EF4-FFF2-40B4-BE49-F238E27FC236}">
                <a16:creationId xmlns:a16="http://schemas.microsoft.com/office/drawing/2014/main" id="{6380F790-F5D2-87CB-EF58-5211B394DD8D}"/>
              </a:ext>
            </a:extLst>
          </p:cNvPr>
          <p:cNvPicPr>
            <a:picLocks noChangeAspect="1"/>
          </p:cNvPicPr>
          <p:nvPr/>
        </p:nvPicPr>
        <p:blipFill>
          <a:blip r:embed="rId2"/>
          <a:stretch>
            <a:fillRect/>
          </a:stretch>
        </p:blipFill>
        <p:spPr>
          <a:xfrm>
            <a:off x="1107702" y="3859530"/>
            <a:ext cx="2571750" cy="438150"/>
          </a:xfrm>
          <a:prstGeom prst="rect">
            <a:avLst/>
          </a:prstGeom>
        </p:spPr>
      </p:pic>
      <p:pic>
        <p:nvPicPr>
          <p:cNvPr id="7" name="Рисунок 6">
            <a:extLst>
              <a:ext uri="{FF2B5EF4-FFF2-40B4-BE49-F238E27FC236}">
                <a16:creationId xmlns:a16="http://schemas.microsoft.com/office/drawing/2014/main" id="{EADBA174-137F-1465-E972-DE63BF05D83A}"/>
              </a:ext>
            </a:extLst>
          </p:cNvPr>
          <p:cNvPicPr>
            <a:picLocks noChangeAspect="1"/>
          </p:cNvPicPr>
          <p:nvPr/>
        </p:nvPicPr>
        <p:blipFill>
          <a:blip r:embed="rId3"/>
          <a:stretch>
            <a:fillRect/>
          </a:stretch>
        </p:blipFill>
        <p:spPr>
          <a:xfrm>
            <a:off x="1107702" y="4933333"/>
            <a:ext cx="1085850" cy="314325"/>
          </a:xfrm>
          <a:prstGeom prst="rect">
            <a:avLst/>
          </a:prstGeom>
        </p:spPr>
      </p:pic>
      <p:pic>
        <p:nvPicPr>
          <p:cNvPr id="9" name="Рисунок 8">
            <a:extLst>
              <a:ext uri="{FF2B5EF4-FFF2-40B4-BE49-F238E27FC236}">
                <a16:creationId xmlns:a16="http://schemas.microsoft.com/office/drawing/2014/main" id="{F585636F-6A13-661A-59D2-D4CF4472F870}"/>
              </a:ext>
            </a:extLst>
          </p:cNvPr>
          <p:cNvPicPr>
            <a:picLocks noChangeAspect="1"/>
          </p:cNvPicPr>
          <p:nvPr/>
        </p:nvPicPr>
        <p:blipFill>
          <a:blip r:embed="rId4"/>
          <a:stretch>
            <a:fillRect/>
          </a:stretch>
        </p:blipFill>
        <p:spPr>
          <a:xfrm>
            <a:off x="9848850" y="1328120"/>
            <a:ext cx="1790700" cy="3762375"/>
          </a:xfrm>
          <a:prstGeom prst="rect">
            <a:avLst/>
          </a:prstGeom>
        </p:spPr>
      </p:pic>
    </p:spTree>
    <p:extLst>
      <p:ext uri="{BB962C8B-B14F-4D97-AF65-F5344CB8AC3E}">
        <p14:creationId xmlns:p14="http://schemas.microsoft.com/office/powerpoint/2010/main" val="24074839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DABE4F1-1AE3-71AA-067E-A31E4EE188C9}"/>
              </a:ext>
            </a:extLst>
          </p:cNvPr>
          <p:cNvSpPr>
            <a:spLocks noGrp="1"/>
          </p:cNvSpPr>
          <p:nvPr>
            <p:ph type="title"/>
          </p:nvPr>
        </p:nvSpPr>
        <p:spPr/>
        <p:txBody>
          <a:bodyPr/>
          <a:lstStyle/>
          <a:p>
            <a:r>
              <a:rPr lang="en-US" dirty="0"/>
              <a:t>LSTM: Input Gate</a:t>
            </a:r>
            <a:endParaRPr lang="uk-UA" dirty="0"/>
          </a:p>
        </p:txBody>
      </p:sp>
      <p:sp>
        <p:nvSpPr>
          <p:cNvPr id="3" name="Місце для вмісту 2">
            <a:extLst>
              <a:ext uri="{FF2B5EF4-FFF2-40B4-BE49-F238E27FC236}">
                <a16:creationId xmlns:a16="http://schemas.microsoft.com/office/drawing/2014/main" id="{BE73433D-9871-31B7-B627-2EC6DC5B9A8D}"/>
              </a:ext>
            </a:extLst>
          </p:cNvPr>
          <p:cNvSpPr>
            <a:spLocks noGrp="1"/>
          </p:cNvSpPr>
          <p:nvPr>
            <p:ph idx="1"/>
          </p:nvPr>
        </p:nvSpPr>
        <p:spPr>
          <a:xfrm>
            <a:off x="304800" y="1891553"/>
            <a:ext cx="9179859" cy="4417807"/>
          </a:xfrm>
        </p:spPr>
        <p:txBody>
          <a:bodyPr>
            <a:normAutofit fontScale="77500" lnSpcReduction="20000"/>
          </a:bodyPr>
          <a:lstStyle/>
          <a:p>
            <a:pPr fontAlgn="base"/>
            <a:r>
              <a:rPr lang="en-US" dirty="0"/>
              <a:t>The addition of useful information to the cell state is done by the input gate. First the information is regulated using the sigmoid function and filter the values to be remembered similar to the forget gate using inputs ht−1​and </a:t>
            </a:r>
            <a:r>
              <a:rPr lang="en-US" i="1" dirty="0" err="1"/>
              <a:t>xt</a:t>
            </a:r>
            <a:r>
              <a:rPr lang="en-US" dirty="0"/>
              <a:t>​. Then, a vector is created using</a:t>
            </a:r>
            <a:r>
              <a:rPr lang="en-US" i="1" dirty="0"/>
              <a:t> tanh </a:t>
            </a:r>
            <a:r>
              <a:rPr lang="en-US" dirty="0"/>
              <a:t>function that gives an output from -1 to +1 which contains all the possible values from ht−1​ and </a:t>
            </a:r>
            <a:r>
              <a:rPr lang="en-US" dirty="0" err="1"/>
              <a:t>xt</a:t>
            </a:r>
            <a:r>
              <a:rPr lang="en-US" dirty="0"/>
              <a:t>​. At last the values of the vector and the regulated values are multiplied to obtain the useful information. The equation for the input gate is:</a:t>
            </a:r>
          </a:p>
          <a:p>
            <a:pPr fontAlgn="base"/>
            <a:endParaRPr lang="en-US" dirty="0"/>
          </a:p>
          <a:p>
            <a:pPr fontAlgn="base"/>
            <a:endParaRPr lang="en-US" dirty="0"/>
          </a:p>
          <a:p>
            <a:pPr fontAlgn="base"/>
            <a:r>
              <a:rPr lang="en-US" dirty="0"/>
              <a:t>We multiply the previous state by ft effectively filtering out the information we had decided to ignore earlier. Then we add </a:t>
            </a:r>
            <a:r>
              <a:rPr lang="en-US" dirty="0" err="1"/>
              <a:t>it⊙Ct</a:t>
            </a:r>
            <a:r>
              <a:rPr lang="en-US" dirty="0"/>
              <a:t>​ which represents the new candidate values scaled by how much we decided to update each state value.</a:t>
            </a:r>
          </a:p>
          <a:p>
            <a:br>
              <a:rPr lang="en-US" dirty="0"/>
            </a:br>
            <a:endParaRPr lang="en-US" dirty="0"/>
          </a:p>
          <a:p>
            <a:pPr fontAlgn="base"/>
            <a:r>
              <a:rPr lang="en-US" dirty="0"/>
              <a:t>where</a:t>
            </a:r>
          </a:p>
          <a:p>
            <a:pPr fontAlgn="base"/>
            <a:r>
              <a:rPr lang="en-US" dirty="0"/>
              <a:t>⊙ denotes element-wise multiplication</a:t>
            </a:r>
          </a:p>
          <a:p>
            <a:pPr fontAlgn="base"/>
            <a:r>
              <a:rPr lang="en-US" dirty="0"/>
              <a:t>tanh is activation function</a:t>
            </a:r>
          </a:p>
        </p:txBody>
      </p:sp>
      <p:pic>
        <p:nvPicPr>
          <p:cNvPr id="5" name="Рисунок 4">
            <a:extLst>
              <a:ext uri="{FF2B5EF4-FFF2-40B4-BE49-F238E27FC236}">
                <a16:creationId xmlns:a16="http://schemas.microsoft.com/office/drawing/2014/main" id="{58A8F6E5-A262-A169-BF52-49350D70560A}"/>
              </a:ext>
            </a:extLst>
          </p:cNvPr>
          <p:cNvPicPr>
            <a:picLocks noChangeAspect="1"/>
          </p:cNvPicPr>
          <p:nvPr/>
        </p:nvPicPr>
        <p:blipFill>
          <a:blip r:embed="rId2"/>
          <a:stretch>
            <a:fillRect/>
          </a:stretch>
        </p:blipFill>
        <p:spPr>
          <a:xfrm>
            <a:off x="435348" y="2889593"/>
            <a:ext cx="2800911" cy="816159"/>
          </a:xfrm>
          <a:prstGeom prst="rect">
            <a:avLst/>
          </a:prstGeom>
        </p:spPr>
      </p:pic>
      <p:pic>
        <p:nvPicPr>
          <p:cNvPr id="7" name="Рисунок 6">
            <a:extLst>
              <a:ext uri="{FF2B5EF4-FFF2-40B4-BE49-F238E27FC236}">
                <a16:creationId xmlns:a16="http://schemas.microsoft.com/office/drawing/2014/main" id="{A9E023BB-17C3-B5D4-7F52-35263AD9C406}"/>
              </a:ext>
            </a:extLst>
          </p:cNvPr>
          <p:cNvPicPr>
            <a:picLocks noChangeAspect="1"/>
          </p:cNvPicPr>
          <p:nvPr/>
        </p:nvPicPr>
        <p:blipFill>
          <a:blip r:embed="rId3"/>
          <a:stretch>
            <a:fillRect/>
          </a:stretch>
        </p:blipFill>
        <p:spPr>
          <a:xfrm>
            <a:off x="435348" y="4493206"/>
            <a:ext cx="2667000" cy="342900"/>
          </a:xfrm>
          <a:prstGeom prst="rect">
            <a:avLst/>
          </a:prstGeom>
        </p:spPr>
      </p:pic>
      <p:pic>
        <p:nvPicPr>
          <p:cNvPr id="9" name="Рисунок 8">
            <a:extLst>
              <a:ext uri="{FF2B5EF4-FFF2-40B4-BE49-F238E27FC236}">
                <a16:creationId xmlns:a16="http://schemas.microsoft.com/office/drawing/2014/main" id="{743078CD-8118-84B1-8856-4BA072EB32C0}"/>
              </a:ext>
            </a:extLst>
          </p:cNvPr>
          <p:cNvPicPr>
            <a:picLocks noChangeAspect="1"/>
          </p:cNvPicPr>
          <p:nvPr/>
        </p:nvPicPr>
        <p:blipFill>
          <a:blip r:embed="rId4"/>
          <a:stretch>
            <a:fillRect/>
          </a:stretch>
        </p:blipFill>
        <p:spPr>
          <a:xfrm>
            <a:off x="9857815" y="1662112"/>
            <a:ext cx="2038350" cy="3533775"/>
          </a:xfrm>
          <a:prstGeom prst="rect">
            <a:avLst/>
          </a:prstGeom>
        </p:spPr>
      </p:pic>
    </p:spTree>
    <p:extLst>
      <p:ext uri="{BB962C8B-B14F-4D97-AF65-F5344CB8AC3E}">
        <p14:creationId xmlns:p14="http://schemas.microsoft.com/office/powerpoint/2010/main" val="33982785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6428565-3C6B-9ADC-D484-95D6E68A0922}"/>
              </a:ext>
            </a:extLst>
          </p:cNvPr>
          <p:cNvSpPr>
            <a:spLocks noGrp="1"/>
          </p:cNvSpPr>
          <p:nvPr>
            <p:ph type="title"/>
          </p:nvPr>
        </p:nvSpPr>
        <p:spPr/>
        <p:txBody>
          <a:bodyPr/>
          <a:lstStyle/>
          <a:p>
            <a:r>
              <a:rPr lang="en-US" dirty="0"/>
              <a:t>LSTM: Output gate</a:t>
            </a:r>
            <a:endParaRPr lang="uk-UA" dirty="0"/>
          </a:p>
        </p:txBody>
      </p:sp>
      <p:sp>
        <p:nvSpPr>
          <p:cNvPr id="3" name="Місце для вмісту 2">
            <a:extLst>
              <a:ext uri="{FF2B5EF4-FFF2-40B4-BE49-F238E27FC236}">
                <a16:creationId xmlns:a16="http://schemas.microsoft.com/office/drawing/2014/main" id="{E785D776-5490-16DB-8E5E-5FFEA3A77C95}"/>
              </a:ext>
            </a:extLst>
          </p:cNvPr>
          <p:cNvSpPr>
            <a:spLocks noGrp="1"/>
          </p:cNvSpPr>
          <p:nvPr>
            <p:ph idx="1"/>
          </p:nvPr>
        </p:nvSpPr>
        <p:spPr>
          <a:xfrm>
            <a:off x="1024128" y="2286000"/>
            <a:ext cx="8406743" cy="4023360"/>
          </a:xfrm>
        </p:spPr>
        <p:txBody>
          <a:bodyPr/>
          <a:lstStyle/>
          <a:p>
            <a:r>
              <a:rPr lang="en-US" dirty="0"/>
              <a:t>The task of extracting useful information from the current cell state to be presented as output is done by the output gate. First, a vector is generated by applying tanh function on the cell. Then, the information is regulated using the sigmoid function and filter by the values to be remembered using inputs ht−1​and </a:t>
            </a:r>
            <a:r>
              <a:rPr lang="en-US" dirty="0" err="1"/>
              <a:t>xt.</a:t>
            </a:r>
            <a:r>
              <a:rPr lang="en-US" dirty="0"/>
              <a:t> At last the values of the vector and the regulated values are multiplied to be sent as an output and input to the next cell. The equation for the output gate is:</a:t>
            </a:r>
            <a:endParaRPr lang="uk-UA" dirty="0"/>
          </a:p>
        </p:txBody>
      </p:sp>
      <p:pic>
        <p:nvPicPr>
          <p:cNvPr id="5" name="Рисунок 4">
            <a:extLst>
              <a:ext uri="{FF2B5EF4-FFF2-40B4-BE49-F238E27FC236}">
                <a16:creationId xmlns:a16="http://schemas.microsoft.com/office/drawing/2014/main" id="{A977696A-2436-83B2-8AFB-FAF142D242EB}"/>
              </a:ext>
            </a:extLst>
          </p:cNvPr>
          <p:cNvPicPr>
            <a:picLocks noChangeAspect="1"/>
          </p:cNvPicPr>
          <p:nvPr/>
        </p:nvPicPr>
        <p:blipFill>
          <a:blip r:embed="rId2"/>
          <a:stretch>
            <a:fillRect/>
          </a:stretch>
        </p:blipFill>
        <p:spPr>
          <a:xfrm>
            <a:off x="1024128" y="4523534"/>
            <a:ext cx="2571750" cy="428625"/>
          </a:xfrm>
          <a:prstGeom prst="rect">
            <a:avLst/>
          </a:prstGeom>
        </p:spPr>
      </p:pic>
      <p:pic>
        <p:nvPicPr>
          <p:cNvPr id="7" name="Рисунок 6">
            <a:extLst>
              <a:ext uri="{FF2B5EF4-FFF2-40B4-BE49-F238E27FC236}">
                <a16:creationId xmlns:a16="http://schemas.microsoft.com/office/drawing/2014/main" id="{E325386E-43E6-B48B-838F-47B7C91DD93B}"/>
              </a:ext>
            </a:extLst>
          </p:cNvPr>
          <p:cNvPicPr>
            <a:picLocks noChangeAspect="1"/>
          </p:cNvPicPr>
          <p:nvPr/>
        </p:nvPicPr>
        <p:blipFill>
          <a:blip r:embed="rId3"/>
          <a:stretch>
            <a:fillRect/>
          </a:stretch>
        </p:blipFill>
        <p:spPr>
          <a:xfrm>
            <a:off x="9851371" y="1518397"/>
            <a:ext cx="2009775" cy="3695700"/>
          </a:xfrm>
          <a:prstGeom prst="rect">
            <a:avLst/>
          </a:prstGeom>
        </p:spPr>
      </p:pic>
    </p:spTree>
    <p:extLst>
      <p:ext uri="{BB962C8B-B14F-4D97-AF65-F5344CB8AC3E}">
        <p14:creationId xmlns:p14="http://schemas.microsoft.com/office/powerpoint/2010/main" val="4513895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C148D5-827A-9861-D826-11D54C2E20E9}"/>
              </a:ext>
            </a:extLst>
          </p:cNvPr>
          <p:cNvSpPr>
            <a:spLocks noGrp="1"/>
          </p:cNvSpPr>
          <p:nvPr>
            <p:ph type="title"/>
          </p:nvPr>
        </p:nvSpPr>
        <p:spPr/>
        <p:txBody>
          <a:bodyPr/>
          <a:lstStyle/>
          <a:p>
            <a:r>
              <a:rPr lang="en-US" dirty="0" err="1"/>
              <a:t>lstm</a:t>
            </a:r>
            <a:endParaRPr lang="uk-UA" dirty="0"/>
          </a:p>
        </p:txBody>
      </p:sp>
      <p:sp>
        <p:nvSpPr>
          <p:cNvPr id="3" name="Місце для вмісту 2">
            <a:extLst>
              <a:ext uri="{FF2B5EF4-FFF2-40B4-BE49-F238E27FC236}">
                <a16:creationId xmlns:a16="http://schemas.microsoft.com/office/drawing/2014/main" id="{942B04E6-7FDE-D678-BA0F-0FBA78956096}"/>
              </a:ext>
            </a:extLst>
          </p:cNvPr>
          <p:cNvSpPr>
            <a:spLocks noGrp="1"/>
          </p:cNvSpPr>
          <p:nvPr>
            <p:ph idx="1"/>
          </p:nvPr>
        </p:nvSpPr>
        <p:spPr/>
        <p:txBody>
          <a:bodyPr/>
          <a:lstStyle/>
          <a:p>
            <a:endParaRPr lang="uk-UA" dirty="0"/>
          </a:p>
        </p:txBody>
      </p:sp>
      <p:pic>
        <p:nvPicPr>
          <p:cNvPr id="9" name="Рисунок 8">
            <a:extLst>
              <a:ext uri="{FF2B5EF4-FFF2-40B4-BE49-F238E27FC236}">
                <a16:creationId xmlns:a16="http://schemas.microsoft.com/office/drawing/2014/main" id="{03F30DE1-A521-3215-4DF8-E937073A7919}"/>
              </a:ext>
            </a:extLst>
          </p:cNvPr>
          <p:cNvPicPr>
            <a:picLocks noChangeAspect="1"/>
          </p:cNvPicPr>
          <p:nvPr/>
        </p:nvPicPr>
        <p:blipFill>
          <a:blip r:embed="rId2"/>
          <a:stretch>
            <a:fillRect/>
          </a:stretch>
        </p:blipFill>
        <p:spPr>
          <a:xfrm>
            <a:off x="2324100" y="2286000"/>
            <a:ext cx="7543800" cy="3762375"/>
          </a:xfrm>
          <a:prstGeom prst="rect">
            <a:avLst/>
          </a:prstGeom>
        </p:spPr>
      </p:pic>
    </p:spTree>
    <p:extLst>
      <p:ext uri="{BB962C8B-B14F-4D97-AF65-F5344CB8AC3E}">
        <p14:creationId xmlns:p14="http://schemas.microsoft.com/office/powerpoint/2010/main" val="28166630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1BDF97-EAB9-135A-6F67-0CBCA5AD9B45}"/>
              </a:ext>
            </a:extLst>
          </p:cNvPr>
          <p:cNvSpPr>
            <a:spLocks noGrp="1"/>
          </p:cNvSpPr>
          <p:nvPr>
            <p:ph type="title"/>
          </p:nvPr>
        </p:nvSpPr>
        <p:spPr/>
        <p:txBody>
          <a:bodyPr/>
          <a:lstStyle/>
          <a:p>
            <a:r>
              <a:rPr lang="en-US" dirty="0"/>
              <a:t>What’s next</a:t>
            </a:r>
            <a:endParaRPr lang="uk-UA" dirty="0"/>
          </a:p>
        </p:txBody>
      </p:sp>
      <p:sp>
        <p:nvSpPr>
          <p:cNvPr id="3" name="Місце для вмісту 2">
            <a:extLst>
              <a:ext uri="{FF2B5EF4-FFF2-40B4-BE49-F238E27FC236}">
                <a16:creationId xmlns:a16="http://schemas.microsoft.com/office/drawing/2014/main" id="{4F02ECD7-1613-00FD-17E1-120E63278192}"/>
              </a:ext>
            </a:extLst>
          </p:cNvPr>
          <p:cNvSpPr>
            <a:spLocks noGrp="1"/>
          </p:cNvSpPr>
          <p:nvPr>
            <p:ph idx="1"/>
          </p:nvPr>
        </p:nvSpPr>
        <p:spPr/>
        <p:txBody>
          <a:bodyPr/>
          <a:lstStyle/>
          <a:p>
            <a:r>
              <a:rPr lang="en-US" dirty="0"/>
              <a:t>Attention</a:t>
            </a:r>
          </a:p>
          <a:p>
            <a:r>
              <a:rPr lang="en-US" dirty="0"/>
              <a:t>Transformers</a:t>
            </a:r>
            <a:endParaRPr lang="uk-UA" dirty="0"/>
          </a:p>
        </p:txBody>
      </p:sp>
    </p:spTree>
    <p:extLst>
      <p:ext uri="{BB962C8B-B14F-4D97-AF65-F5344CB8AC3E}">
        <p14:creationId xmlns:p14="http://schemas.microsoft.com/office/powerpoint/2010/main" val="41102065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Інтеграл">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120</TotalTime>
  <Words>2370</Words>
  <Application>Microsoft Office PowerPoint</Application>
  <PresentationFormat>Широкий екран</PresentationFormat>
  <Paragraphs>142</Paragraphs>
  <Slides>25</Slides>
  <Notes>0</Notes>
  <HiddenSlides>0</HiddenSlides>
  <MMClips>0</MMClips>
  <ScaleCrop>false</ScaleCrop>
  <HeadingPairs>
    <vt:vector size="6" baseType="variant">
      <vt:variant>
        <vt:lpstr>Використані шрифти</vt:lpstr>
      </vt:variant>
      <vt:variant>
        <vt:i4>6</vt:i4>
      </vt:variant>
      <vt:variant>
        <vt:lpstr>Тема</vt:lpstr>
      </vt:variant>
      <vt:variant>
        <vt:i4>1</vt:i4>
      </vt:variant>
      <vt:variant>
        <vt:lpstr>Заголовки слайдів</vt:lpstr>
      </vt:variant>
      <vt:variant>
        <vt:i4>25</vt:i4>
      </vt:variant>
    </vt:vector>
  </HeadingPairs>
  <TitlesOfParts>
    <vt:vector size="32" baseType="lpstr">
      <vt:lpstr>Arial</vt:lpstr>
      <vt:lpstr>Calibri</vt:lpstr>
      <vt:lpstr>Cambria Math</vt:lpstr>
      <vt:lpstr>Tw Cen MT</vt:lpstr>
      <vt:lpstr>Tw Cen MT Condensed</vt:lpstr>
      <vt:lpstr>Wingdings 3</vt:lpstr>
      <vt:lpstr>Інтеграл</vt:lpstr>
      <vt:lpstr>NLP 2</vt:lpstr>
      <vt:lpstr>Sentiment Analysis</vt:lpstr>
      <vt:lpstr>Named Entity Recognition (NER)</vt:lpstr>
      <vt:lpstr>Machine Translation</vt:lpstr>
      <vt:lpstr>Text Summarization &amp; Question Answering</vt:lpstr>
      <vt:lpstr>Bag-of-words</vt:lpstr>
      <vt:lpstr>Bow: Step 1: Tokenize and Build a Vocabulary</vt:lpstr>
      <vt:lpstr>Bow: Step 2: Create a Zero Vector for Each Document</vt:lpstr>
      <vt:lpstr>Word Embeddings</vt:lpstr>
      <vt:lpstr>Skip-gram</vt:lpstr>
      <vt:lpstr>Skip-gram</vt:lpstr>
      <vt:lpstr>Continuous Bag-of-Words (CBOW):</vt:lpstr>
      <vt:lpstr>Continuous Bag-of-Words (CBOW):</vt:lpstr>
      <vt:lpstr>RNN</vt:lpstr>
      <vt:lpstr>RNN</vt:lpstr>
      <vt:lpstr>RNN</vt:lpstr>
      <vt:lpstr>RNN Architectures</vt:lpstr>
      <vt:lpstr>Vanishing gradient</vt:lpstr>
      <vt:lpstr>LSTM</vt:lpstr>
      <vt:lpstr>LSTM</vt:lpstr>
      <vt:lpstr>LSTM: Forget gate</vt:lpstr>
      <vt:lpstr>LSTM: Input Gate</vt:lpstr>
      <vt:lpstr>LSTM: Output gate</vt:lpstr>
      <vt:lpstr>lstm</vt:lpstr>
      <vt:lpstr>What’s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Borys Lypa</dc:creator>
  <cp:lastModifiedBy>Borys Lypa</cp:lastModifiedBy>
  <cp:revision>2</cp:revision>
  <dcterms:created xsi:type="dcterms:W3CDTF">2025-07-11T11:53:50Z</dcterms:created>
  <dcterms:modified xsi:type="dcterms:W3CDTF">2025-07-11T13:54:05Z</dcterms:modified>
</cp:coreProperties>
</file>