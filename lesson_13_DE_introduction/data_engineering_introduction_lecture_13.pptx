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rC/OuIP9yaMMTmeDsT5Tl7JAV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09111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8;p21"/>
          <p:cNvCxnSpPr/>
          <p:nvPr/>
        </p:nvCxnSpPr>
        <p:spPr>
          <a:xfrm>
            <a:off x="594360" y="6446520"/>
            <a:ext cx="11018520" cy="0"/>
          </a:xfrm>
          <a:prstGeom prst="straightConnector1">
            <a:avLst/>
          </a:prstGeom>
          <a:noFill/>
          <a:ln cap="flat" cmpd="sng" w="10150">
            <a:solidFill>
              <a:srgbClr val="1C2B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" name="Google Shape;9;p21"/>
          <p:cNvSpPr txBox="1"/>
          <p:nvPr>
            <p:ph idx="12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idx="12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13232" y="62179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DATA ENGINEERING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85800" y="1143000"/>
            <a:ext cx="65836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 Engineering</a:t>
            </a:r>
            <a:endParaRPr b="0" i="0" sz="4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4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49808" y="2770632"/>
            <a:ext cx="5669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530"/>
              <a:buFont typeface="Arial"/>
              <a:buNone/>
            </a:pPr>
            <a:r>
              <a:rPr b="0" i="0" lang="en-US" sz="1530" u="none" cap="none" strike="noStrike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A practical overview of the most common concepts, systems, patterns, and skills used to build modern data platforms.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0" y="1051560"/>
            <a:ext cx="1325880" cy="502920"/>
          </a:xfrm>
          <a:prstGeom prst="roundRect">
            <a:avLst>
              <a:gd fmla="val 14545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388352" y="1097280"/>
            <a:ext cx="11795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915400" y="2011680"/>
            <a:ext cx="1508760" cy="502920"/>
          </a:xfrm>
          <a:prstGeom prst="roundRect">
            <a:avLst>
              <a:gd fmla="val 14545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988552" y="2057400"/>
            <a:ext cx="13624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pipelines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589520" y="2999232"/>
            <a:ext cx="1508760" cy="502920"/>
          </a:xfrm>
          <a:prstGeom prst="roundRect">
            <a:avLst>
              <a:gd fmla="val 14545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662672" y="3044952"/>
            <a:ext cx="13624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platform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601200" y="4005072"/>
            <a:ext cx="1417320" cy="502920"/>
          </a:xfrm>
          <a:prstGeom prst="roundRect">
            <a:avLst>
              <a:gd fmla="val 14545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9674352" y="4050792"/>
            <a:ext cx="12710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analytics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49808" y="3931920"/>
            <a:ext cx="1600200" cy="347472"/>
          </a:xfrm>
          <a:prstGeom prst="roundRect">
            <a:avLst>
              <a:gd fmla="val 18421" name="adj"/>
            </a:avLst>
          </a:prstGeom>
          <a:solidFill>
            <a:srgbClr val="7CFFB2">
              <a:alpha val="16078"/>
            </a:srgbClr>
          </a:solidFill>
          <a:ln cap="flat" cmpd="sng" w="12700">
            <a:solidFill>
              <a:srgbClr val="7CFFB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59536" y="4014216"/>
            <a:ext cx="1380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15–20 slide overview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514600" y="3931920"/>
            <a:ext cx="2560320" cy="347472"/>
          </a:xfrm>
          <a:prstGeom prst="roundRect">
            <a:avLst>
              <a:gd fmla="val 18421" name="adj"/>
            </a:avLst>
          </a:prstGeom>
          <a:solidFill>
            <a:srgbClr val="38D9D6">
              <a:alpha val="16078"/>
            </a:srgbClr>
          </a:solidFill>
          <a:ln cap="flat" cmpd="sng" w="12700">
            <a:solidFill>
              <a:srgbClr val="38D9D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2624328" y="4014216"/>
            <a:ext cx="23408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batch • stream • quality • governance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01 ROLE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What data engineering is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68096" y="123444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 engineers make data reliable, accessible, and useful.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68680" y="1828800"/>
            <a:ext cx="53949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Collect data from applications, APIs, files, devices, and databases.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Transform raw data into clean, modeled datasets.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Operate pipelines with quality checks, observability, and cost controls.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720840" y="1371600"/>
            <a:ext cx="1828800" cy="502920"/>
          </a:xfrm>
          <a:prstGeom prst="roundRect">
            <a:avLst>
              <a:gd fmla="val 14545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793992" y="1417320"/>
            <a:ext cx="16824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software engineering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961120" y="1371600"/>
            <a:ext cx="1600200" cy="502920"/>
          </a:xfrm>
          <a:prstGeom prst="roundRect">
            <a:avLst>
              <a:gd fmla="val 14545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9034272" y="1417320"/>
            <a:ext cx="14538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 modeling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754112" y="2423160"/>
            <a:ext cx="1737360" cy="502920"/>
          </a:xfrm>
          <a:prstGeom prst="roundRect">
            <a:avLst>
              <a:gd fmla="val 14545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827264" y="2468880"/>
            <a:ext cx="15910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cloud platforms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931152" y="3474720"/>
            <a:ext cx="1737360" cy="502920"/>
          </a:xfrm>
          <a:prstGeom prst="roundRect">
            <a:avLst>
              <a:gd fmla="val 14545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004304" y="3520440"/>
            <a:ext cx="15910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analytics needs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189720" y="3474720"/>
            <a:ext cx="1417320" cy="502920"/>
          </a:xfrm>
          <a:prstGeom prst="roundRect">
            <a:avLst>
              <a:gd fmla="val 14545" name="adj"/>
            </a:avLst>
          </a:prstGeom>
          <a:solidFill>
            <a:srgbClr val="F5C451">
              <a:alpha val="12156"/>
            </a:srgbClr>
          </a:solidFill>
          <a:ln cap="flat" cmpd="sng" w="16500">
            <a:solidFill>
              <a:srgbClr val="F5C45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9262872" y="3520440"/>
            <a:ext cx="12710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operations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040880" y="482803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040880" y="524865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main outcomes: trustworthy data, faster decisions, scalable systems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02 LIFECYCLE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The end-to-end data lifecycle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1965960" y="3246120"/>
            <a:ext cx="59436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" name="Google Shape;62;p3"/>
          <p:cNvSpPr/>
          <p:nvPr/>
        </p:nvSpPr>
        <p:spPr>
          <a:xfrm>
            <a:off x="694944" y="2880360"/>
            <a:ext cx="1234440" cy="685800"/>
          </a:xfrm>
          <a:prstGeom prst="roundRect">
            <a:avLst>
              <a:gd fmla="val 10667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896112" y="2926080"/>
            <a:ext cx="10881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Capture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3794760" y="3246120"/>
            <a:ext cx="59436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" name="Google Shape;65;p3"/>
          <p:cNvSpPr/>
          <p:nvPr/>
        </p:nvSpPr>
        <p:spPr>
          <a:xfrm>
            <a:off x="2560320" y="2880360"/>
            <a:ext cx="1234440" cy="685800"/>
          </a:xfrm>
          <a:prstGeom prst="roundRect">
            <a:avLst>
              <a:gd fmla="val 10667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2724912" y="2926080"/>
            <a:ext cx="10881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Ingest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3"/>
          <p:cNvCxnSpPr/>
          <p:nvPr/>
        </p:nvCxnSpPr>
        <p:spPr>
          <a:xfrm>
            <a:off x="5623560" y="3246120"/>
            <a:ext cx="59436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" name="Google Shape;68;p3"/>
          <p:cNvSpPr/>
          <p:nvPr/>
        </p:nvSpPr>
        <p:spPr>
          <a:xfrm>
            <a:off x="4366260" y="2880360"/>
            <a:ext cx="1234440" cy="685800"/>
          </a:xfrm>
          <a:prstGeom prst="roundRect">
            <a:avLst>
              <a:gd fmla="val 10667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553712" y="2926080"/>
            <a:ext cx="10881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Store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70;p3"/>
          <p:cNvCxnSpPr/>
          <p:nvPr/>
        </p:nvCxnSpPr>
        <p:spPr>
          <a:xfrm>
            <a:off x="7452360" y="3246120"/>
            <a:ext cx="59436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" name="Google Shape;71;p3"/>
          <p:cNvSpPr/>
          <p:nvPr/>
        </p:nvSpPr>
        <p:spPr>
          <a:xfrm>
            <a:off x="6217920" y="2880360"/>
            <a:ext cx="1234440" cy="685800"/>
          </a:xfrm>
          <a:prstGeom prst="roundRect">
            <a:avLst>
              <a:gd fmla="val 10667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382512" y="2926080"/>
            <a:ext cx="10881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Transform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3"/>
          <p:cNvCxnSpPr/>
          <p:nvPr/>
        </p:nvCxnSpPr>
        <p:spPr>
          <a:xfrm>
            <a:off x="9281160" y="3246120"/>
            <a:ext cx="59436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" name="Google Shape;74;p3"/>
          <p:cNvSpPr/>
          <p:nvPr/>
        </p:nvSpPr>
        <p:spPr>
          <a:xfrm>
            <a:off x="8028432" y="2880360"/>
            <a:ext cx="1234440" cy="685800"/>
          </a:xfrm>
          <a:prstGeom prst="roundRect">
            <a:avLst>
              <a:gd fmla="val 10667" name="adj"/>
            </a:avLst>
          </a:prstGeom>
          <a:solidFill>
            <a:srgbClr val="F5C451">
              <a:alpha val="12156"/>
            </a:srgbClr>
          </a:solidFill>
          <a:ln cap="flat" cmpd="sng" w="16500">
            <a:solidFill>
              <a:srgbClr val="F5C45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8211312" y="2926080"/>
            <a:ext cx="10881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Serve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893808" y="2880360"/>
            <a:ext cx="1234440" cy="685800"/>
          </a:xfrm>
          <a:prstGeom prst="roundRect">
            <a:avLst>
              <a:gd fmla="val 10667" name="adj"/>
            </a:avLst>
          </a:prstGeom>
          <a:solidFill>
            <a:srgbClr val="FF7A90">
              <a:alpha val="12156"/>
            </a:srgbClr>
          </a:solidFill>
          <a:ln cap="flat" cmpd="sng" w="16500">
            <a:solidFill>
              <a:srgbClr val="FF7A9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10040112" y="2926080"/>
            <a:ext cx="10881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Observe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60120" y="137160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 healthy platform treats the lifecycle as a loop, not a one-time movement of files.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103120" y="416052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Each step has contracts: schema, ownership, freshness, and recovery behavior.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The loop closes when monitoring and user feedback improve upstream pipelines.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03 ARCHITECTURE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Modern data platform architecture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4"/>
          <p:cNvCxnSpPr/>
          <p:nvPr/>
        </p:nvCxnSpPr>
        <p:spPr>
          <a:xfrm>
            <a:off x="2148840" y="3200400"/>
            <a:ext cx="155448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" name="Google Shape;89;p4"/>
          <p:cNvCxnSpPr/>
          <p:nvPr/>
        </p:nvCxnSpPr>
        <p:spPr>
          <a:xfrm>
            <a:off x="5303520" y="3200400"/>
            <a:ext cx="141732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" name="Google Shape;90;p4"/>
          <p:cNvCxnSpPr/>
          <p:nvPr/>
        </p:nvCxnSpPr>
        <p:spPr>
          <a:xfrm>
            <a:off x="8778240" y="3200400"/>
            <a:ext cx="114300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" name="Google Shape;91;p4"/>
          <p:cNvCxnSpPr/>
          <p:nvPr/>
        </p:nvCxnSpPr>
        <p:spPr>
          <a:xfrm>
            <a:off x="8778240" y="3200400"/>
            <a:ext cx="1143000" cy="96012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" name="Google Shape;92;p4"/>
          <p:cNvSpPr/>
          <p:nvPr/>
        </p:nvSpPr>
        <p:spPr>
          <a:xfrm>
            <a:off x="685800" y="2697480"/>
            <a:ext cx="1417320" cy="960120"/>
          </a:xfrm>
          <a:prstGeom prst="roundRect">
            <a:avLst>
              <a:gd fmla="val 7619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758952" y="2743200"/>
            <a:ext cx="12710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 sources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apps • dbs • APIs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703320" y="2697480"/>
            <a:ext cx="1600200" cy="960120"/>
          </a:xfrm>
          <a:prstGeom prst="roundRect">
            <a:avLst>
              <a:gd fmla="val 7619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3730752" y="2743200"/>
            <a:ext cx="14538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ingestion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batch + stream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702552" y="2651760"/>
            <a:ext cx="2057400" cy="1051560"/>
          </a:xfrm>
          <a:prstGeom prst="roundRect">
            <a:avLst>
              <a:gd fmla="val 6957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812280" y="2697480"/>
            <a:ext cx="191109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lakehouse / warehouse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raw → curated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9939528" y="2743200"/>
            <a:ext cx="1417320" cy="731520"/>
          </a:xfrm>
          <a:prstGeom prst="roundRect">
            <a:avLst>
              <a:gd fmla="val 10000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10049256" y="2784234"/>
            <a:ext cx="12710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BI / analytics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9939528" y="3749040"/>
            <a:ext cx="1417320" cy="731520"/>
          </a:xfrm>
          <a:prstGeom prst="roundRect">
            <a:avLst>
              <a:gd fmla="val 10000" name="adj"/>
            </a:avLst>
          </a:prstGeom>
          <a:solidFill>
            <a:srgbClr val="F5C451">
              <a:alpha val="12156"/>
            </a:srgbClr>
          </a:solidFill>
          <a:ln cap="flat" cmpd="sng" w="16500">
            <a:solidFill>
              <a:srgbClr val="F5C45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0012680" y="3794760"/>
            <a:ext cx="12710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ML / products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828800" y="521208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Cross-cutting: orchestration • quality • governance • observability • security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4"/>
          <p:cNvCxnSpPr/>
          <p:nvPr/>
        </p:nvCxnSpPr>
        <p:spPr>
          <a:xfrm>
            <a:off x="1645920" y="4983480"/>
            <a:ext cx="8869680" cy="0"/>
          </a:xfrm>
          <a:prstGeom prst="straightConnector1">
            <a:avLst/>
          </a:prstGeom>
          <a:noFill/>
          <a:ln cap="flat" cmpd="sng" w="15225">
            <a:solidFill>
              <a:srgbClr val="38D9D6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4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04 INGESTION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 ingestion patterns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868680" y="1508760"/>
            <a:ext cx="1463040" cy="594360"/>
          </a:xfrm>
          <a:prstGeom prst="roundRect">
            <a:avLst>
              <a:gd fmla="val 12308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941832" y="1554480"/>
            <a:ext cx="13167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full load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68680" y="2514600"/>
            <a:ext cx="1463040" cy="594360"/>
          </a:xfrm>
          <a:prstGeom prst="roundRect">
            <a:avLst>
              <a:gd fmla="val 12308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941832" y="2560320"/>
            <a:ext cx="13167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incremental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868680" y="3520440"/>
            <a:ext cx="1463040" cy="594360"/>
          </a:xfrm>
          <a:prstGeom prst="roundRect">
            <a:avLst>
              <a:gd fmla="val 12308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941832" y="3566160"/>
            <a:ext cx="13167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CDC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868680" y="4526280"/>
            <a:ext cx="1463040" cy="594360"/>
          </a:xfrm>
          <a:prstGeom prst="roundRect">
            <a:avLst>
              <a:gd fmla="val 12308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941832" y="4572000"/>
            <a:ext cx="13167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event stream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2834640" y="1508760"/>
            <a:ext cx="42976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Full load: simple, expensive for large data.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Incremental: reads only new or changed rows.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CDC: captures database changes with low latency.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Events: records business actions as they happen.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726680" y="13258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Key design questions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818120" y="1874520"/>
            <a:ext cx="2560320" cy="347472"/>
          </a:xfrm>
          <a:prstGeom prst="roundRect">
            <a:avLst>
              <a:gd fmla="val 18421" name="adj"/>
            </a:avLst>
          </a:prstGeom>
          <a:solidFill>
            <a:srgbClr val="7CFFB2">
              <a:alpha val="16078"/>
            </a:srgbClr>
          </a:solidFill>
          <a:ln cap="flat" cmpd="sng" w="12700">
            <a:solidFill>
              <a:srgbClr val="7CFFB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7927848" y="1956816"/>
            <a:ext cx="23408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freshness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818120" y="2441448"/>
            <a:ext cx="2560320" cy="347472"/>
          </a:xfrm>
          <a:prstGeom prst="roundRect">
            <a:avLst>
              <a:gd fmla="val 18421" name="adj"/>
            </a:avLst>
          </a:prstGeom>
          <a:solidFill>
            <a:srgbClr val="38D9D6">
              <a:alpha val="16078"/>
            </a:srgbClr>
          </a:solidFill>
          <a:ln cap="flat" cmpd="sng" w="12700">
            <a:solidFill>
              <a:srgbClr val="38D9D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7927848" y="2523744"/>
            <a:ext cx="23408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schema changes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818120" y="3008376"/>
            <a:ext cx="2560320" cy="347472"/>
          </a:xfrm>
          <a:prstGeom prst="roundRect">
            <a:avLst>
              <a:gd fmla="val 18421" name="adj"/>
            </a:avLst>
          </a:prstGeom>
          <a:solidFill>
            <a:srgbClr val="7CFFB2">
              <a:alpha val="16078"/>
            </a:srgbClr>
          </a:solidFill>
          <a:ln cap="flat" cmpd="sng" w="12700">
            <a:solidFill>
              <a:srgbClr val="7CFFB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7927848" y="3090672"/>
            <a:ext cx="23408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deduplication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7818120" y="3575304"/>
            <a:ext cx="2560320" cy="347472"/>
          </a:xfrm>
          <a:prstGeom prst="roundRect">
            <a:avLst>
              <a:gd fmla="val 18421" name="adj"/>
            </a:avLst>
          </a:prstGeom>
          <a:solidFill>
            <a:srgbClr val="38D9D6">
              <a:alpha val="16078"/>
            </a:srgbClr>
          </a:solidFill>
          <a:ln cap="flat" cmpd="sng" w="12700">
            <a:solidFill>
              <a:srgbClr val="38D9D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7927848" y="3657600"/>
            <a:ext cx="23408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backfills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818120" y="4142232"/>
            <a:ext cx="2560320" cy="347472"/>
          </a:xfrm>
          <a:prstGeom prst="roundRect">
            <a:avLst>
              <a:gd fmla="val 18421" name="adj"/>
            </a:avLst>
          </a:prstGeom>
          <a:solidFill>
            <a:srgbClr val="7CFFB2">
              <a:alpha val="16078"/>
            </a:srgbClr>
          </a:solidFill>
          <a:ln cap="flat" cmpd="sng" w="12700">
            <a:solidFill>
              <a:srgbClr val="7CFFB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7927848" y="4224528"/>
            <a:ext cx="23408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idempotency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05 STORAGE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Storage: files, tables, and formats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005840" y="1463040"/>
            <a:ext cx="1920240" cy="914400"/>
          </a:xfrm>
          <a:prstGeom prst="roundRect">
            <a:avLst>
              <a:gd fmla="val 8000" name="adj"/>
            </a:avLst>
          </a:prstGeom>
          <a:solidFill>
            <a:srgbClr val="F5C451">
              <a:alpha val="12156"/>
            </a:srgbClr>
          </a:solidFill>
          <a:ln cap="flat" cmpd="sng" w="16500">
            <a:solidFill>
              <a:srgbClr val="F5C45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078992" y="1508760"/>
            <a:ext cx="17739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CSV / JSON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portable, verbose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703320" y="1463040"/>
            <a:ext cx="2148840" cy="914400"/>
          </a:xfrm>
          <a:prstGeom prst="roundRect">
            <a:avLst>
              <a:gd fmla="val 8000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3776472" y="1508760"/>
            <a:ext cx="20025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Parquet / ORC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columnar, compressed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812280" y="1463040"/>
            <a:ext cx="2834640" cy="914400"/>
          </a:xfrm>
          <a:prstGeom prst="roundRect">
            <a:avLst>
              <a:gd fmla="val 8000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885432" y="1508760"/>
            <a:ext cx="26883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Delta / Iceberg / Hudi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table metadata + transactions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6"/>
          <p:cNvCxnSpPr/>
          <p:nvPr/>
        </p:nvCxnSpPr>
        <p:spPr>
          <a:xfrm>
            <a:off x="1965960" y="2743200"/>
            <a:ext cx="7040880" cy="0"/>
          </a:xfrm>
          <a:prstGeom prst="straightConnector1">
            <a:avLst/>
          </a:prstGeom>
          <a:noFill/>
          <a:ln cap="flat" cmpd="sng" w="19050">
            <a:solidFill>
              <a:srgbClr val="2032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6"/>
          <p:cNvSpPr/>
          <p:nvPr/>
        </p:nvSpPr>
        <p:spPr>
          <a:xfrm>
            <a:off x="1828800" y="3337560"/>
            <a:ext cx="1737360" cy="621792"/>
          </a:xfrm>
          <a:prstGeom prst="roundRect">
            <a:avLst>
              <a:gd fmla="val 11765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1901952" y="3383280"/>
            <a:ext cx="159105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raw zone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937760" y="3337560"/>
            <a:ext cx="1737360" cy="621792"/>
          </a:xfrm>
          <a:prstGeom prst="roundRect">
            <a:avLst>
              <a:gd fmla="val 11765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010912" y="3383280"/>
            <a:ext cx="159105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clean zone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046720" y="3337560"/>
            <a:ext cx="1737360" cy="621792"/>
          </a:xfrm>
          <a:prstGeom prst="roundRect">
            <a:avLst>
              <a:gd fmla="val 11765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8119872" y="3383280"/>
            <a:ext cx="159105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curated zone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463040" y="4892040"/>
            <a:ext cx="9235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Good storage choices reduce scan cost, improve reliability, and make schema evolution manageable.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06 PLATFORM CHOICES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Warehouse, lake, and lakehouse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143000" y="1828800"/>
            <a:ext cx="2194560" cy="914400"/>
          </a:xfrm>
          <a:prstGeom prst="roundRect">
            <a:avLst>
              <a:gd fmla="val 8000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1216152" y="1874520"/>
            <a:ext cx="20482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 warehouse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structured, SQL-first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434840" y="1828800"/>
            <a:ext cx="2057400" cy="914400"/>
          </a:xfrm>
          <a:prstGeom prst="roundRect">
            <a:avLst>
              <a:gd fmla="val 8000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507992" y="1874520"/>
            <a:ext cx="19110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 lake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cheap, flexible files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543800" y="1828800"/>
            <a:ext cx="2560320" cy="914400"/>
          </a:xfrm>
          <a:prstGeom prst="roundRect">
            <a:avLst>
              <a:gd fmla="val 8000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7616952" y="1874520"/>
            <a:ext cx="24140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lakehouse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tables on object storage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7"/>
          <p:cNvCxnSpPr/>
          <p:nvPr/>
        </p:nvCxnSpPr>
        <p:spPr>
          <a:xfrm>
            <a:off x="3337560" y="2286000"/>
            <a:ext cx="109728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7"/>
          <p:cNvCxnSpPr/>
          <p:nvPr/>
        </p:nvCxnSpPr>
        <p:spPr>
          <a:xfrm>
            <a:off x="6492240" y="2286000"/>
            <a:ext cx="105156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p7"/>
          <p:cNvSpPr/>
          <p:nvPr/>
        </p:nvSpPr>
        <p:spPr>
          <a:xfrm>
            <a:off x="1417320" y="3657600"/>
            <a:ext cx="9235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Warehouses prioritize managed performance and analytics productivity.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Lakes prioritize scale, flexibility, and raw data retention.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Lakehouses combine transactional tables with low-cost object storage.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07 PROCESSING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Batch processing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960120" y="128016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Best when data can be processed in scheduled chunks.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868680" y="1874520"/>
            <a:ext cx="49377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Common tools: SQL engines, Spark, Databricks, Airflow, dbt.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Typical cadence: hourly, daily, or triggered by file arrival.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Failure model: retry, reprocess, and validate outputs.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766560" y="2011680"/>
            <a:ext cx="457200" cy="1828800"/>
          </a:xfrm>
          <a:prstGeom prst="rect">
            <a:avLst/>
          </a:prstGeom>
          <a:solidFill>
            <a:srgbClr val="79A8FF">
              <a:alpha val="90196"/>
            </a:srgbClr>
          </a:solidFill>
          <a:ln cap="flat" cmpd="sng" w="12700">
            <a:solidFill>
              <a:srgbClr val="09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7388352" y="2011680"/>
            <a:ext cx="457200" cy="1572768"/>
          </a:xfrm>
          <a:prstGeom prst="rect">
            <a:avLst/>
          </a:prstGeom>
          <a:solidFill>
            <a:srgbClr val="38D9D6">
              <a:alpha val="90196"/>
            </a:srgbClr>
          </a:solidFill>
          <a:ln cap="flat" cmpd="sng" w="12700">
            <a:solidFill>
              <a:srgbClr val="09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8010144" y="2011680"/>
            <a:ext cx="457200" cy="1316736"/>
          </a:xfrm>
          <a:prstGeom prst="rect">
            <a:avLst/>
          </a:prstGeom>
          <a:solidFill>
            <a:srgbClr val="C084FC">
              <a:alpha val="90196"/>
            </a:srgbClr>
          </a:solidFill>
          <a:ln cap="flat" cmpd="sng" w="12700">
            <a:solidFill>
              <a:srgbClr val="09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8631936" y="2011680"/>
            <a:ext cx="457200" cy="1060704"/>
          </a:xfrm>
          <a:prstGeom prst="rect">
            <a:avLst/>
          </a:prstGeom>
          <a:solidFill>
            <a:srgbClr val="7CFFB2">
              <a:alpha val="90196"/>
            </a:srgbClr>
          </a:solidFill>
          <a:ln cap="flat" cmpd="sng" w="12700">
            <a:solidFill>
              <a:srgbClr val="09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9253728" y="2011680"/>
            <a:ext cx="457200" cy="804672"/>
          </a:xfrm>
          <a:prstGeom prst="rect">
            <a:avLst/>
          </a:prstGeom>
          <a:solidFill>
            <a:srgbClr val="F5C451">
              <a:alpha val="90196"/>
            </a:srgbClr>
          </a:solidFill>
          <a:ln cap="flat" cmpd="sng" w="12700">
            <a:solidFill>
              <a:srgbClr val="0911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86;p8"/>
          <p:cNvCxnSpPr/>
          <p:nvPr/>
        </p:nvCxnSpPr>
        <p:spPr>
          <a:xfrm>
            <a:off x="6492240" y="3931920"/>
            <a:ext cx="4114800" cy="0"/>
          </a:xfrm>
          <a:prstGeom prst="straightConnector1">
            <a:avLst/>
          </a:prstGeom>
          <a:noFill/>
          <a:ln cap="flat" cmpd="sng" w="12700">
            <a:solidFill>
              <a:srgbClr val="6F819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8"/>
          <p:cNvSpPr/>
          <p:nvPr/>
        </p:nvSpPr>
        <p:spPr>
          <a:xfrm>
            <a:off x="6492240" y="43434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micro-batches → partitions → optimized tables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08 REAL TIME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Streaming processing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9"/>
          <p:cNvCxnSpPr/>
          <p:nvPr/>
        </p:nvCxnSpPr>
        <p:spPr>
          <a:xfrm>
            <a:off x="1828800" y="3108960"/>
            <a:ext cx="164592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" name="Google Shape;197;p9"/>
          <p:cNvCxnSpPr/>
          <p:nvPr/>
        </p:nvCxnSpPr>
        <p:spPr>
          <a:xfrm>
            <a:off x="5257800" y="3108960"/>
            <a:ext cx="141732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8" name="Google Shape;198;p9"/>
          <p:cNvCxnSpPr/>
          <p:nvPr/>
        </p:nvCxnSpPr>
        <p:spPr>
          <a:xfrm>
            <a:off x="8549640" y="3108960"/>
            <a:ext cx="132588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" name="Google Shape;199;p9"/>
          <p:cNvSpPr/>
          <p:nvPr/>
        </p:nvSpPr>
        <p:spPr>
          <a:xfrm>
            <a:off x="502920" y="2697480"/>
            <a:ext cx="1325880" cy="822960"/>
          </a:xfrm>
          <a:prstGeom prst="roundRect">
            <a:avLst>
              <a:gd fmla="val 8889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544267" y="2743200"/>
            <a:ext cx="117957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474720" y="2606040"/>
            <a:ext cx="1783080" cy="1005840"/>
          </a:xfrm>
          <a:prstGeom prst="roundRect">
            <a:avLst>
              <a:gd fmla="val 7273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3547872" y="2651760"/>
            <a:ext cx="163677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broker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Kafka / Kinesis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6675120" y="2606040"/>
            <a:ext cx="1874520" cy="1005840"/>
          </a:xfrm>
          <a:prstGeom prst="roundRect">
            <a:avLst>
              <a:gd fmla="val 7273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6748272" y="2651760"/>
            <a:ext cx="17282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stream processor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Flink / Spark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9875520" y="2606040"/>
            <a:ext cx="1691640" cy="1005840"/>
          </a:xfrm>
          <a:prstGeom prst="roundRect">
            <a:avLst>
              <a:gd fmla="val 7273" name="adj"/>
            </a:avLst>
          </a:prstGeom>
          <a:solidFill>
            <a:srgbClr val="F5C451">
              <a:alpha val="12156"/>
            </a:srgbClr>
          </a:solidFill>
          <a:ln cap="flat" cmpd="sng" w="16500">
            <a:solidFill>
              <a:srgbClr val="F5C45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9948672" y="2651760"/>
            <a:ext cx="15453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serving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alerts • dashboards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325880" y="470916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Use streaming when latency changes product value or operational risk.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Design for ordering, late events, exactly/at-least-once semantics, and replay.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09 MODELING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 modeling: from raw facts to useful tables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914400" y="2468880"/>
            <a:ext cx="1463040" cy="685800"/>
          </a:xfrm>
          <a:prstGeom prst="roundRect">
            <a:avLst>
              <a:gd fmla="val 10667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987552" y="2514600"/>
            <a:ext cx="13167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raw events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0"/>
          <p:cNvCxnSpPr/>
          <p:nvPr/>
        </p:nvCxnSpPr>
        <p:spPr>
          <a:xfrm>
            <a:off x="2377440" y="2788920"/>
            <a:ext cx="141732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" name="Google Shape;219;p10"/>
          <p:cNvSpPr/>
          <p:nvPr/>
        </p:nvSpPr>
        <p:spPr>
          <a:xfrm>
            <a:off x="3794760" y="2468880"/>
            <a:ext cx="1417320" cy="685800"/>
          </a:xfrm>
          <a:prstGeom prst="roundRect">
            <a:avLst>
              <a:gd fmla="val 10667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3867912" y="2514600"/>
            <a:ext cx="127101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staging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10"/>
          <p:cNvCxnSpPr/>
          <p:nvPr/>
        </p:nvCxnSpPr>
        <p:spPr>
          <a:xfrm>
            <a:off x="5212080" y="2788920"/>
            <a:ext cx="137160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" name="Google Shape;222;p10"/>
          <p:cNvSpPr/>
          <p:nvPr/>
        </p:nvSpPr>
        <p:spPr>
          <a:xfrm>
            <a:off x="6583680" y="2468880"/>
            <a:ext cx="1965960" cy="685800"/>
          </a:xfrm>
          <a:prstGeom prst="roundRect">
            <a:avLst>
              <a:gd fmla="val 10667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6656832" y="2514600"/>
            <a:ext cx="18196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facts + dimensions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10"/>
          <p:cNvCxnSpPr/>
          <p:nvPr/>
        </p:nvCxnSpPr>
        <p:spPr>
          <a:xfrm>
            <a:off x="8549640" y="2788920"/>
            <a:ext cx="105156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5" name="Google Shape;225;p10"/>
          <p:cNvSpPr/>
          <p:nvPr/>
        </p:nvSpPr>
        <p:spPr>
          <a:xfrm>
            <a:off x="9601200" y="2468880"/>
            <a:ext cx="1280160" cy="685800"/>
          </a:xfrm>
          <a:prstGeom prst="roundRect">
            <a:avLst>
              <a:gd fmla="val 10667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9674352" y="2514600"/>
            <a:ext cx="11338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marts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914400" y="1325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Typical modeling layers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097280" y="4069080"/>
            <a:ext cx="9692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Normalize meaning: one definition for customer, order, revenue, churn.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Optimize consumption: tables should match common business questions.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Preserve lineage: users should know where a metric came from.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10 ORCHESTRATION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Orchestration and scheduling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11"/>
          <p:cNvCxnSpPr/>
          <p:nvPr/>
        </p:nvCxnSpPr>
        <p:spPr>
          <a:xfrm>
            <a:off x="2057400" y="2468880"/>
            <a:ext cx="146304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" name="Google Shape;238;p11"/>
          <p:cNvCxnSpPr/>
          <p:nvPr/>
        </p:nvCxnSpPr>
        <p:spPr>
          <a:xfrm>
            <a:off x="5074920" y="2468880"/>
            <a:ext cx="155448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" name="Google Shape;239;p11"/>
          <p:cNvCxnSpPr/>
          <p:nvPr/>
        </p:nvCxnSpPr>
        <p:spPr>
          <a:xfrm>
            <a:off x="8366760" y="2468880"/>
            <a:ext cx="137160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0" name="Google Shape;240;p11"/>
          <p:cNvSpPr/>
          <p:nvPr/>
        </p:nvSpPr>
        <p:spPr>
          <a:xfrm>
            <a:off x="822960" y="2103120"/>
            <a:ext cx="1234440" cy="685800"/>
          </a:xfrm>
          <a:prstGeom prst="roundRect">
            <a:avLst>
              <a:gd fmla="val 10667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896112" y="2148840"/>
            <a:ext cx="10881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extract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3520440" y="2103120"/>
            <a:ext cx="1554480" cy="685800"/>
          </a:xfrm>
          <a:prstGeom prst="roundRect">
            <a:avLst>
              <a:gd fmla="val 10667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3593592" y="2148840"/>
            <a:ext cx="14081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629400" y="2103120"/>
            <a:ext cx="1691640" cy="685800"/>
          </a:xfrm>
          <a:prstGeom prst="roundRect">
            <a:avLst>
              <a:gd fmla="val 10667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6702552" y="2148840"/>
            <a:ext cx="15453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transform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9738360" y="2103120"/>
            <a:ext cx="1325880" cy="685800"/>
          </a:xfrm>
          <a:prstGeom prst="roundRect">
            <a:avLst>
              <a:gd fmla="val 10667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9811512" y="2148840"/>
            <a:ext cx="11795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publish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005840" y="123444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DAGs encode dependencies, not just timing.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1051560" y="379476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Retries and backfills must be explicit.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Tasks should be idempotent: rerunning should not corrupt results.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SLAs define when late data becomes a business issue.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8823960" y="3931920"/>
            <a:ext cx="1005840" cy="347472"/>
          </a:xfrm>
          <a:prstGeom prst="roundRect">
            <a:avLst>
              <a:gd fmla="val 18421" name="adj"/>
            </a:avLst>
          </a:prstGeom>
          <a:solidFill>
            <a:srgbClr val="38D9D6">
              <a:alpha val="16078"/>
            </a:srgbClr>
          </a:solidFill>
          <a:ln cap="flat" cmpd="sng" w="12700">
            <a:solidFill>
              <a:srgbClr val="38D9D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8933688" y="4014216"/>
            <a:ext cx="7863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Airflow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10012680" y="3931920"/>
            <a:ext cx="1005840" cy="347472"/>
          </a:xfrm>
          <a:prstGeom prst="roundRect">
            <a:avLst>
              <a:gd fmla="val 18421" name="adj"/>
            </a:avLst>
          </a:prstGeom>
          <a:solidFill>
            <a:srgbClr val="7CFFB2">
              <a:alpha val="16078"/>
            </a:srgbClr>
          </a:solidFill>
          <a:ln cap="flat" cmpd="sng" w="12700">
            <a:solidFill>
              <a:srgbClr val="7CFFB2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10122408" y="4014216"/>
            <a:ext cx="7863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Dagster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9372600" y="4526280"/>
            <a:ext cx="1051560" cy="347472"/>
          </a:xfrm>
          <a:prstGeom prst="roundRect">
            <a:avLst>
              <a:gd fmla="val 18421" name="adj"/>
            </a:avLst>
          </a:prstGeom>
          <a:solidFill>
            <a:srgbClr val="C084FC">
              <a:alpha val="16078"/>
            </a:srgbClr>
          </a:solidFill>
          <a:ln cap="flat" cmpd="sng" w="12700">
            <a:solidFill>
              <a:srgbClr val="C084FC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9482328" y="4608576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C084FC"/>
                </a:solidFill>
                <a:latin typeface="Arial"/>
                <a:ea typeface="Arial"/>
                <a:cs typeface="Arial"/>
                <a:sym typeface="Arial"/>
              </a:rPr>
              <a:t>Prefect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11 TRANSFORMATION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Transformation: SQL, Python, Spark, dbt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914400" y="1243584"/>
            <a:ext cx="7406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Choose tools based on scale, team skills, and maintainability.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914400" y="2194560"/>
            <a:ext cx="1828800" cy="914400"/>
          </a:xfrm>
          <a:prstGeom prst="roundRect">
            <a:avLst>
              <a:gd fmla="val 8000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987552" y="2240280"/>
            <a:ext cx="16824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analytics logic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3657600" y="2194560"/>
            <a:ext cx="2011680" cy="914400"/>
          </a:xfrm>
          <a:prstGeom prst="roundRect">
            <a:avLst>
              <a:gd fmla="val 8000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3730752" y="2240280"/>
            <a:ext cx="18653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custom processing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629400" y="2194560"/>
            <a:ext cx="2240280" cy="914400"/>
          </a:xfrm>
          <a:prstGeom prst="roundRect">
            <a:avLst>
              <a:gd fmla="val 8000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6702552" y="2240280"/>
            <a:ext cx="20939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Spark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distributed compute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9646920" y="2194560"/>
            <a:ext cx="1645920" cy="914400"/>
          </a:xfrm>
          <a:prstGeom prst="roundRect">
            <a:avLst>
              <a:gd fmla="val 8000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9720072" y="2240280"/>
            <a:ext cx="14996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dbt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models + tests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1234440" y="4251960"/>
            <a:ext cx="9326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Keep transformations modular and version controlled.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Push simple logic to SQL; use Spark/Python when data volume or complexity requires it.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Separate business definitions from infrastructure plumbing.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12 RELIABILITY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 quality and testing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960120" y="1828800"/>
            <a:ext cx="1371600" cy="594360"/>
          </a:xfrm>
          <a:prstGeom prst="roundRect">
            <a:avLst>
              <a:gd fmla="val 12308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1033272" y="1874520"/>
            <a:ext cx="12252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960120" y="2743200"/>
            <a:ext cx="1371600" cy="594360"/>
          </a:xfrm>
          <a:prstGeom prst="roundRect">
            <a:avLst>
              <a:gd fmla="val 12308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1033272" y="2788920"/>
            <a:ext cx="12252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nulls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960120" y="3657600"/>
            <a:ext cx="1371600" cy="594360"/>
          </a:xfrm>
          <a:prstGeom prst="roundRect">
            <a:avLst>
              <a:gd fmla="val 12308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1033272" y="3703320"/>
            <a:ext cx="12252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uniqueness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960120" y="4572000"/>
            <a:ext cx="1371600" cy="594360"/>
          </a:xfrm>
          <a:prstGeom prst="roundRect">
            <a:avLst>
              <a:gd fmla="val 12308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1033272" y="4617720"/>
            <a:ext cx="12252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freshness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3291840" y="1874520"/>
            <a:ext cx="2194560" cy="2103120"/>
          </a:xfrm>
          <a:prstGeom prst="chevron">
            <a:avLst>
              <a:gd fmla="val 50000" name="adj"/>
            </a:avLst>
          </a:prstGeom>
          <a:solidFill>
            <a:srgbClr val="38D9D6">
              <a:alpha val="16078"/>
            </a:srgbClr>
          </a:solidFill>
          <a:ln cap="flat" cmpd="sng" w="12700">
            <a:solidFill>
              <a:srgbClr val="38D9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3611880" y="265176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quality gates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6766560" y="1965960"/>
            <a:ext cx="2103120" cy="731520"/>
          </a:xfrm>
          <a:prstGeom prst="roundRect">
            <a:avLst>
              <a:gd fmla="val 10000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6839712" y="2011680"/>
            <a:ext cx="19568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trusted datasets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6766560" y="3154680"/>
            <a:ext cx="2103120" cy="731520"/>
          </a:xfrm>
          <a:prstGeom prst="roundRect">
            <a:avLst>
              <a:gd fmla="val 10000" name="adj"/>
            </a:avLst>
          </a:prstGeom>
          <a:solidFill>
            <a:srgbClr val="F5C451">
              <a:alpha val="12156"/>
            </a:srgbClr>
          </a:solidFill>
          <a:ln cap="flat" cmpd="sng" w="16500">
            <a:solidFill>
              <a:srgbClr val="F5C45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6839712" y="3200400"/>
            <a:ext cx="19568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alerts + incidents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6766560" y="4343400"/>
            <a:ext cx="2103120" cy="731520"/>
          </a:xfrm>
          <a:prstGeom prst="roundRect">
            <a:avLst>
              <a:gd fmla="val 10000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6839712" y="4389120"/>
            <a:ext cx="19568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root cause fixes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9098280" y="242316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Quality is not a final checkpoint; it is built into every layer.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13 GOVERNANCE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Governance, privacy, and security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914400" y="2011680"/>
            <a:ext cx="1645920" cy="594360"/>
          </a:xfrm>
          <a:prstGeom prst="roundRect">
            <a:avLst>
              <a:gd fmla="val 12308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987552" y="2057400"/>
            <a:ext cx="1499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access control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3063240" y="3154680"/>
            <a:ext cx="1645920" cy="594360"/>
          </a:xfrm>
          <a:prstGeom prst="roundRect">
            <a:avLst>
              <a:gd fmla="val 12308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3136392" y="3200400"/>
            <a:ext cx="1499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 catalog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5212080" y="2011680"/>
            <a:ext cx="1645920" cy="594360"/>
          </a:xfrm>
          <a:prstGeom prst="roundRect">
            <a:avLst>
              <a:gd fmla="val 12308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5285232" y="2057400"/>
            <a:ext cx="1499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lineage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7360920" y="3154680"/>
            <a:ext cx="1645920" cy="594360"/>
          </a:xfrm>
          <a:prstGeom prst="roundRect">
            <a:avLst>
              <a:gd fmla="val 12308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7434072" y="3200400"/>
            <a:ext cx="1499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PII handling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9509760" y="2011680"/>
            <a:ext cx="1645920" cy="594360"/>
          </a:xfrm>
          <a:prstGeom prst="roundRect">
            <a:avLst>
              <a:gd fmla="val 12308" name="adj"/>
            </a:avLst>
          </a:prstGeom>
          <a:solidFill>
            <a:srgbClr val="F5C451">
              <a:alpha val="12156"/>
            </a:srgbClr>
          </a:solidFill>
          <a:ln cap="flat" cmpd="sng" w="16500">
            <a:solidFill>
              <a:srgbClr val="F5C45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9582912" y="2057400"/>
            <a:ext cx="1499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retention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1005840" y="114300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Governance answers: who owns it, who can see it, where it came from, and how long it should live.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1463040" y="4663440"/>
            <a:ext cx="9326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Strong governance improves trust without blocking delivery.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Security should be default: least privilege, secrets management, encryption, and audit logs.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4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14 OBSERVABILITY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685800" y="620429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775"/>
              <a:buFont typeface="Arial"/>
              <a:buNone/>
            </a:pPr>
            <a:r>
              <a:rPr b="1" lang="en-US" sz="2775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Observability: know when pipelines are unhealthy</a:t>
            </a:r>
            <a:endParaRPr sz="27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914400" y="1828800"/>
            <a:ext cx="1188720" cy="594360"/>
          </a:xfrm>
          <a:prstGeom prst="roundRect">
            <a:avLst>
              <a:gd fmla="val 12308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"/>
          <p:cNvSpPr/>
          <p:nvPr/>
        </p:nvSpPr>
        <p:spPr>
          <a:xfrm>
            <a:off x="987552" y="1874520"/>
            <a:ext cx="1042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logs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914400" y="2743200"/>
            <a:ext cx="1188720" cy="594360"/>
          </a:xfrm>
          <a:prstGeom prst="roundRect">
            <a:avLst>
              <a:gd fmla="val 12308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987552" y="2788920"/>
            <a:ext cx="1042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metrics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914400" y="3657600"/>
            <a:ext cx="1188720" cy="594360"/>
          </a:xfrm>
          <a:prstGeom prst="roundRect">
            <a:avLst>
              <a:gd fmla="val 12308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987552" y="3703320"/>
            <a:ext cx="1042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traces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15"/>
          <p:cNvCxnSpPr/>
          <p:nvPr/>
        </p:nvCxnSpPr>
        <p:spPr>
          <a:xfrm>
            <a:off x="2194560" y="3013544"/>
            <a:ext cx="164592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4" name="Google Shape;334;p15"/>
          <p:cNvSpPr/>
          <p:nvPr/>
        </p:nvSpPr>
        <p:spPr>
          <a:xfrm>
            <a:off x="3840480" y="2514600"/>
            <a:ext cx="2286000" cy="1005840"/>
          </a:xfrm>
          <a:prstGeom prst="roundRect">
            <a:avLst>
              <a:gd fmla="val 7273" name="adj"/>
            </a:avLst>
          </a:prstGeom>
          <a:solidFill>
            <a:srgbClr val="F5C451">
              <a:alpha val="12156"/>
            </a:srgbClr>
          </a:solidFill>
          <a:ln cap="flat" cmpd="sng" w="16500">
            <a:solidFill>
              <a:srgbClr val="F5C45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3913632" y="2560320"/>
            <a:ext cx="21396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alerting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latency • failures • volume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15"/>
          <p:cNvCxnSpPr/>
          <p:nvPr/>
        </p:nvCxnSpPr>
        <p:spPr>
          <a:xfrm>
            <a:off x="6126480" y="3019224"/>
            <a:ext cx="155448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7" name="Google Shape;337;p15"/>
          <p:cNvSpPr/>
          <p:nvPr/>
        </p:nvSpPr>
        <p:spPr>
          <a:xfrm>
            <a:off x="7680960" y="2514600"/>
            <a:ext cx="2468880" cy="1005840"/>
          </a:xfrm>
          <a:prstGeom prst="roundRect">
            <a:avLst>
              <a:gd fmla="val 7273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7754112" y="2560320"/>
            <a:ext cx="232257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triage • rollback • replay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914400" y="1170432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Monitor the data and the system.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1920240" y="45720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System health: task failures, duration, resource usage.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Data health: freshness, row counts, distributions, anomaly detection.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5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15 INFRASTRUCTURE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Cloud and infrastructure basics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960120" y="1737360"/>
            <a:ext cx="1920240" cy="868680"/>
          </a:xfrm>
          <a:prstGeom prst="roundRect">
            <a:avLst>
              <a:gd fmla="val 8421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1033272" y="1783080"/>
            <a:ext cx="17739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object storage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S3 / ADLS / GCS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3703320" y="1737360"/>
            <a:ext cx="2240280" cy="868680"/>
          </a:xfrm>
          <a:prstGeom prst="roundRect">
            <a:avLst>
              <a:gd fmla="val 8421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3776472" y="1783080"/>
            <a:ext cx="2093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compute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Spark / SQL / containers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6858000" y="1737360"/>
            <a:ext cx="1874520" cy="868680"/>
          </a:xfrm>
          <a:prstGeom prst="roundRect">
            <a:avLst>
              <a:gd fmla="val 8421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6931152" y="1783080"/>
            <a:ext cx="17282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network + IAM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secure access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9509760" y="1737360"/>
            <a:ext cx="1737360" cy="868680"/>
          </a:xfrm>
          <a:prstGeom prst="roundRect">
            <a:avLst>
              <a:gd fmla="val 8421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9582912" y="1783080"/>
            <a:ext cx="15910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IaC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Terraform / CI/CD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960120" y="33832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Production DE is also platform engineering.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1097280" y="3977640"/>
            <a:ext cx="5852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Automate environments and deployments.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Keep secrets out of code and notebooks.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Right-size compute; separate dev, staging, and prod.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7680960" y="40233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IaC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7680960" y="444398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repeatable infra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9464040" y="40233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CI/CD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9464040" y="444398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safe releases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6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16 OPTIMIZATION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Performance and cost optimization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914400" y="1737360"/>
            <a:ext cx="1737360" cy="594360"/>
          </a:xfrm>
          <a:prstGeom prst="roundRect">
            <a:avLst>
              <a:gd fmla="val 12308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987552" y="1783080"/>
            <a:ext cx="1591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partitioning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914400" y="2606040"/>
            <a:ext cx="1737360" cy="594360"/>
          </a:xfrm>
          <a:prstGeom prst="roundRect">
            <a:avLst>
              <a:gd fmla="val 12308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987552" y="2651760"/>
            <a:ext cx="1591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clustering / z-order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914400" y="3474720"/>
            <a:ext cx="1737360" cy="594360"/>
          </a:xfrm>
          <a:prstGeom prst="roundRect">
            <a:avLst>
              <a:gd fmla="val 12308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987552" y="3520440"/>
            <a:ext cx="1591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file compaction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914400" y="4343400"/>
            <a:ext cx="1737360" cy="594360"/>
          </a:xfrm>
          <a:prstGeom prst="roundRect">
            <a:avLst>
              <a:gd fmla="val 12308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987552" y="4389120"/>
            <a:ext cx="1591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caching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3749040" y="141732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Optimize after you understand the workload.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3840480" y="2057400"/>
            <a:ext cx="66751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Measure bottlenecks: scan size, shuffle, skew, concurrency, and task duration.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Reduce unnecessary work: predicate pushdown, incremental models, and materialized outputs.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Cost is an architecture signal: expensive jobs often reveal missing design decisions.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17"/>
          <p:cNvCxnSpPr/>
          <p:nvPr/>
        </p:nvCxnSpPr>
        <p:spPr>
          <a:xfrm>
            <a:off x="3840480" y="4937760"/>
            <a:ext cx="6035040" cy="0"/>
          </a:xfrm>
          <a:prstGeom prst="straightConnector1">
            <a:avLst/>
          </a:prstGeom>
          <a:noFill/>
          <a:ln cap="flat" cmpd="sng" w="25400">
            <a:solidFill>
              <a:srgbClr val="F5C4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p17"/>
          <p:cNvSpPr/>
          <p:nvPr/>
        </p:nvSpPr>
        <p:spPr>
          <a:xfrm>
            <a:off x="3840480" y="516636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small files → slow reads; huge shuffles → slow jobs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7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8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17 GETTING STARTED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Learning roadmap and first project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914400" y="1234440"/>
            <a:ext cx="6949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Build one small platform end to end.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18"/>
          <p:cNvCxnSpPr/>
          <p:nvPr/>
        </p:nvCxnSpPr>
        <p:spPr>
          <a:xfrm>
            <a:off x="2651760" y="2286000"/>
            <a:ext cx="123444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3" name="Google Shape;393;p18"/>
          <p:cNvSpPr/>
          <p:nvPr/>
        </p:nvSpPr>
        <p:spPr>
          <a:xfrm>
            <a:off x="822960" y="1965960"/>
            <a:ext cx="1828800" cy="658368"/>
          </a:xfrm>
          <a:prstGeom prst="roundRect">
            <a:avLst>
              <a:gd fmla="val 11111" name="adj"/>
            </a:avLst>
          </a:prstGeom>
          <a:solidFill>
            <a:srgbClr val="79A8FF">
              <a:alpha val="12156"/>
            </a:srgbClr>
          </a:solidFill>
          <a:ln cap="flat" cmpd="sng" w="16500">
            <a:solidFill>
              <a:srgbClr val="79A8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8"/>
          <p:cNvSpPr/>
          <p:nvPr/>
        </p:nvSpPr>
        <p:spPr>
          <a:xfrm>
            <a:off x="896112" y="201168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1. ingest API data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p18"/>
          <p:cNvCxnSpPr/>
          <p:nvPr/>
        </p:nvCxnSpPr>
        <p:spPr>
          <a:xfrm>
            <a:off x="5760720" y="2286000"/>
            <a:ext cx="123444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6" name="Google Shape;396;p18"/>
          <p:cNvSpPr/>
          <p:nvPr/>
        </p:nvSpPr>
        <p:spPr>
          <a:xfrm>
            <a:off x="3931920" y="1965960"/>
            <a:ext cx="1828800" cy="658368"/>
          </a:xfrm>
          <a:prstGeom prst="roundRect">
            <a:avLst>
              <a:gd fmla="val 11111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8"/>
          <p:cNvSpPr/>
          <p:nvPr/>
        </p:nvSpPr>
        <p:spPr>
          <a:xfrm>
            <a:off x="4005072" y="201168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2. store raw files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p18"/>
          <p:cNvCxnSpPr/>
          <p:nvPr/>
        </p:nvCxnSpPr>
        <p:spPr>
          <a:xfrm>
            <a:off x="8911141" y="2286000"/>
            <a:ext cx="123444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9" name="Google Shape;399;p18"/>
          <p:cNvSpPr/>
          <p:nvPr/>
        </p:nvSpPr>
        <p:spPr>
          <a:xfrm>
            <a:off x="7040880" y="1965960"/>
            <a:ext cx="1828800" cy="658368"/>
          </a:xfrm>
          <a:prstGeom prst="roundRect">
            <a:avLst>
              <a:gd fmla="val 11111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>
            <a:off x="7114032" y="201168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3. transform to tables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18"/>
          <p:cNvCxnSpPr/>
          <p:nvPr/>
        </p:nvCxnSpPr>
        <p:spPr>
          <a:xfrm>
            <a:off x="2697480" y="3703320"/>
            <a:ext cx="123444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2" name="Google Shape;402;p18"/>
          <p:cNvSpPr/>
          <p:nvPr/>
        </p:nvSpPr>
        <p:spPr>
          <a:xfrm>
            <a:off x="822960" y="3383280"/>
            <a:ext cx="1828800" cy="658368"/>
          </a:xfrm>
          <a:prstGeom prst="roundRect">
            <a:avLst>
              <a:gd fmla="val 11111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"/>
          <p:cNvSpPr/>
          <p:nvPr/>
        </p:nvSpPr>
        <p:spPr>
          <a:xfrm>
            <a:off x="896112" y="342900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4. test data quality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18"/>
          <p:cNvCxnSpPr/>
          <p:nvPr/>
        </p:nvCxnSpPr>
        <p:spPr>
          <a:xfrm>
            <a:off x="5806440" y="3720642"/>
            <a:ext cx="123444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5" name="Google Shape;405;p18"/>
          <p:cNvSpPr/>
          <p:nvPr/>
        </p:nvSpPr>
        <p:spPr>
          <a:xfrm>
            <a:off x="3931920" y="3383280"/>
            <a:ext cx="1828800" cy="658368"/>
          </a:xfrm>
          <a:prstGeom prst="roundRect">
            <a:avLst>
              <a:gd fmla="val 11111" name="adj"/>
            </a:avLst>
          </a:prstGeom>
          <a:solidFill>
            <a:srgbClr val="F5C451">
              <a:alpha val="12156"/>
            </a:srgbClr>
          </a:solidFill>
          <a:ln cap="flat" cmpd="sng" w="16500">
            <a:solidFill>
              <a:srgbClr val="F5C45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4005072" y="342900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5. schedule + monitor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7040880" y="3383280"/>
            <a:ext cx="1828800" cy="658368"/>
          </a:xfrm>
          <a:prstGeom prst="roundRect">
            <a:avLst>
              <a:gd fmla="val 11111" name="adj"/>
            </a:avLst>
          </a:prstGeom>
          <a:solidFill>
            <a:srgbClr val="FF7A90">
              <a:alpha val="12156"/>
            </a:srgbClr>
          </a:solidFill>
          <a:ln cap="flat" cmpd="sng" w="16500">
            <a:solidFill>
              <a:srgbClr val="FF7A9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7114032" y="342900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6. serve dashboard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1188720" y="4983480"/>
            <a:ext cx="9509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Recommended stack: Python + SQL + Postgres/DuckDB + object storage + Airflow/dbt + simple BI.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Focus on reliability first: reruns, logging, tests, and clear table definitions.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8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18"/>
          <p:cNvCxnSpPr/>
          <p:nvPr/>
        </p:nvCxnSpPr>
        <p:spPr>
          <a:xfrm>
            <a:off x="498300" y="3716856"/>
            <a:ext cx="324660" cy="0"/>
          </a:xfrm>
          <a:prstGeom prst="straightConnector1">
            <a:avLst/>
          </a:prstGeom>
          <a:noFill/>
          <a:ln cap="flat" cmpd="sng" w="20300">
            <a:solidFill>
              <a:srgbClr val="20324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11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9"/>
          <p:cNvSpPr/>
          <p:nvPr/>
        </p:nvSpPr>
        <p:spPr>
          <a:xfrm>
            <a:off x="685800" y="3200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D9D6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38D9D6"/>
                </a:solidFill>
                <a:latin typeface="Arial"/>
                <a:ea typeface="Arial"/>
                <a:cs typeface="Arial"/>
                <a:sym typeface="Arial"/>
              </a:rPr>
              <a:t>18 SUMMARY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685800" y="56692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1097280" y="1417320"/>
            <a:ext cx="64922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Data engineering is about trustworthy flow from source systems to users.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The core trade-offs are freshness, cost, reliability, flexibility, and governance.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A7B5C6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A7B5C6"/>
                </a:solidFill>
                <a:latin typeface="Arial"/>
                <a:ea typeface="Arial"/>
                <a:cs typeface="Arial"/>
                <a:sym typeface="Arial"/>
              </a:rPr>
              <a:t>Strong fundamentals matter more than any one tool: SQL, modeling, distributed processing, testing, and operations.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8046720" y="1417320"/>
            <a:ext cx="1371600" cy="640080"/>
          </a:xfrm>
          <a:prstGeom prst="roundRect">
            <a:avLst>
              <a:gd fmla="val 11429" name="adj"/>
            </a:avLst>
          </a:prstGeom>
          <a:solidFill>
            <a:srgbClr val="38D9D6">
              <a:alpha val="12156"/>
            </a:srgbClr>
          </a:solidFill>
          <a:ln cap="flat" cmpd="sng" w="16500">
            <a:solidFill>
              <a:srgbClr val="38D9D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9"/>
          <p:cNvSpPr/>
          <p:nvPr/>
        </p:nvSpPr>
        <p:spPr>
          <a:xfrm>
            <a:off x="8119872" y="1463040"/>
            <a:ext cx="12252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9"/>
          <p:cNvSpPr/>
          <p:nvPr/>
        </p:nvSpPr>
        <p:spPr>
          <a:xfrm>
            <a:off x="9646920" y="2148840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C084FC">
              <a:alpha val="12156"/>
            </a:srgbClr>
          </a:solidFill>
          <a:ln cap="flat" cmpd="sng" w="16500">
            <a:solidFill>
              <a:srgbClr val="C084FC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9"/>
          <p:cNvSpPr/>
          <p:nvPr/>
        </p:nvSpPr>
        <p:spPr>
          <a:xfrm>
            <a:off x="9720072" y="2194560"/>
            <a:ext cx="12710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measure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8046720" y="2880360"/>
            <a:ext cx="1371600" cy="640080"/>
          </a:xfrm>
          <a:prstGeom prst="roundRect">
            <a:avLst>
              <a:gd fmla="val 11429" name="adj"/>
            </a:avLst>
          </a:prstGeom>
          <a:solidFill>
            <a:srgbClr val="7CFFB2">
              <a:alpha val="12156"/>
            </a:srgbClr>
          </a:solidFill>
          <a:ln cap="flat" cmpd="sng" w="16500">
            <a:solidFill>
              <a:srgbClr val="7CFFB2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9"/>
          <p:cNvSpPr/>
          <p:nvPr/>
        </p:nvSpPr>
        <p:spPr>
          <a:xfrm>
            <a:off x="8119872" y="2926080"/>
            <a:ext cx="12252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improve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9646920" y="3611880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F5C451">
              <a:alpha val="12156"/>
            </a:srgbClr>
          </a:solidFill>
          <a:ln cap="flat" cmpd="sng" w="16500">
            <a:solidFill>
              <a:srgbClr val="F5C451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9"/>
          <p:cNvSpPr/>
          <p:nvPr/>
        </p:nvSpPr>
        <p:spPr>
          <a:xfrm>
            <a:off x="9720072" y="3657600"/>
            <a:ext cx="12710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document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1234440" y="48463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Start small, design for reruns, and make failures easy to understand.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9"/>
          <p:cNvSpPr txBox="1"/>
          <p:nvPr>
            <p:ph idx="4294967295" type="sldNum"/>
          </p:nvPr>
        </p:nvSpPr>
        <p:spPr>
          <a:xfrm>
            <a:off x="1120140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F819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F819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2026-04-29T10:00:35Z</dcterms:created>
  <dc:creator>OpenAI</dc:creator>
</cp:coreProperties>
</file>