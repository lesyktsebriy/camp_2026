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_rels/theme1.xml.rels" ContentType="application/vnd.openxmlformats-package.relationshi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2.png" ContentType="image/png"/>
  <Override PartName="/ppt/media/image3.png" ContentType="image/png"/>
  <Override PartName="/ppt/media/image8.png" ContentType="image/png"/>
  <Override PartName="/ppt/media/image15.jpeg" ContentType="image/jpeg"/>
  <Override PartName="/ppt/media/image14.png" ContentType="image/png"/>
  <Override PartName="/ppt/media/image1.jpeg" ContentType="image/jpeg"/>
  <Override PartName="/ppt/media/image4.jpeg" ContentType="image/jpeg"/>
  <Override PartName="/ppt/media/image5.jpeg" ContentType="image/jpeg"/>
  <Override PartName="/ppt/media/image10.png" ContentType="image/png"/>
  <Override PartName="/ppt/media/image6.jpeg" ContentType="image/jpeg"/>
  <Override PartName="/ppt/media/image9.png" ContentType="image/png"/>
  <Override PartName="/ppt/media/image13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" name="Rectangle 9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Oval 5"/>
          <p:cNvSpPr/>
          <p:nvPr/>
        </p:nvSpPr>
        <p:spPr>
          <a:xfrm>
            <a:off x="0" y="0"/>
            <a:ext cx="12191760" cy="4571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571640"/>
              <a:gd name="textAreaBottom" fmla="*/ 4572000 h 457164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uk-UA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84634FA1-6CE1-4D73-BF57-8BC663645CCF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1cade4">
                <a:lumMod val="75000"/>
              </a:srgbClr>
            </a:solidFill>
            <a:round/>
          </a:ln>
        </p:spPr>
      </p:cxn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і вертикальни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uk-UA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uk-UA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Другий рівень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Третій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Четвертий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П’ятий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B2BA5CB0-B120-41DE-AF3B-172BDDF5EBD4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ий заголовок і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724960" y="762120"/>
            <a:ext cx="2628720" cy="5409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ctr" vert="eaVer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uk-UA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990720" y="762120"/>
            <a:ext cx="7581600" cy="5409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uk-UA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Другий рівень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Третій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Четвертий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П’ятий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394D6A5-EE98-404F-9E15-DBBE4E6D12FC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1" name="Straight Connector 6"/>
          <p:cNvCxnSpPr/>
          <p:nvPr/>
        </p:nvCxnSpPr>
        <p:spPr>
          <a:xfrm>
            <a:off x="9601200" y="516240"/>
            <a:ext cx="914760" cy="3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Назва та вмі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uk-UA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uk-UA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Другий рівень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Третій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Четвертий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П’ятий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5D16D79A-278B-4645-984A-992021750C59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Назва розділ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29" name="Rectangle 8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Oval 5"/>
          <p:cNvSpPr/>
          <p:nvPr/>
        </p:nvSpPr>
        <p:spPr>
          <a:xfrm>
            <a:off x="0" y="0"/>
            <a:ext cx="12191760" cy="4571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571640"/>
              <a:gd name="textAreaBottom" fmla="*/ 4572000 h 457164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uk-UA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uk-UA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3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14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15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C7DF73EC-D1E2-4533-BC71-C1E1B03722C2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6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1cade4">
                <a:lumMod val="75000"/>
              </a:srgbClr>
            </a:solidFill>
            <a:round/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’єкт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uk-UA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uk-UA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Другий рівень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Третій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Четвертий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П’ятий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598932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uk-UA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Другий рівень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Третій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Четвертий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П’ятий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6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17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18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2CE84A36-AC25-4037-A4D0-C30F41083504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рівнянн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uk-UA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02420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102420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uk-UA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Другий рівень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Третій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Четвертий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П’ятий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599076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599076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uk-UA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Другий рівень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Третій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Четвертий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П’ятий рівень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19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0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1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CE0A7BC9-411B-436F-A9FF-4F50BFDD9782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Лише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uk-UA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22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3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4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04C59C39-7CDE-46FF-81D3-93EDB6A36798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9" name="PlaceHolder 1"/>
          <p:cNvSpPr>
            <a:spLocks noGrp="1"/>
          </p:cNvSpPr>
          <p:nvPr>
            <p:ph type="dt" idx="25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26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27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3C48E003-834A-4528-894E-D9AD178F8F03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міст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024200" y="471600"/>
            <a:ext cx="438876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uk-UA" sz="4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715000" y="822960"/>
            <a:ext cx="5677920" cy="5184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uk-UA" sz="2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Другий рівень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Третій рівень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Четвертий рівень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uk-UA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П’ятий рівень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024200" y="2257560"/>
            <a:ext cx="4388760" cy="376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8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uk-UA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6B33B6B7-B364-4500-B5A1-86AC47BF38A2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uk-UA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Клацніть, щоб редагувати стиль зразка заголовка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88520" cy="4571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457200" rIns="45720" tIns="36576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3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Клацніть піктограму, щоб додати зображення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uk-UA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Клацніть, щоб відредагувати стилі зразків тексту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4A83C016-6050-4545-9DF9-82EA4DFD4258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6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medium.com/data-science/transformers-explained-visually-part-3-multi-head-attention-deep-dive-1c1ff1024853" TargetMode="External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lmarena.ai/leaderboard" TargetMode="External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NLP 3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Transformers, LLM, embeddings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RNN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80" name="Picture 2" descr="Recurrent Neural Network Basics: What You Need to Know | Grammarly"/>
          <p:cNvPicPr/>
          <p:nvPr/>
        </p:nvPicPr>
        <p:blipFill>
          <a:blip r:embed="rId1"/>
          <a:stretch/>
        </p:blipFill>
        <p:spPr>
          <a:xfrm>
            <a:off x="2111760" y="2286000"/>
            <a:ext cx="7544160" cy="402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RNN issues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Processing is slow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RNN struggle with long-range dependencies (even with LSTMs)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83" name="Picture 2" descr="1 Sequential processing vs parallel processing (Retrieved from Ortiz... |  Download Scientific Diagram"/>
          <p:cNvPicPr/>
          <p:nvPr/>
        </p:nvPicPr>
        <p:blipFill>
          <a:blip r:embed="rId1"/>
          <a:stretch/>
        </p:blipFill>
        <p:spPr>
          <a:xfrm>
            <a:off x="3444840" y="3285720"/>
            <a:ext cx="5301720" cy="322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Attention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85" name="Picture 4" descr="H_M. Seq2seq and attention - Pytorch Implementation - EN - Deep Learning  Bible - 3. Natural Language Processing - Eng."/>
          <p:cNvPicPr/>
          <p:nvPr/>
        </p:nvPicPr>
        <p:blipFill>
          <a:blip r:embed="rId1"/>
          <a:stretch/>
        </p:blipFill>
        <p:spPr>
          <a:xfrm>
            <a:off x="1573920" y="2473200"/>
            <a:ext cx="8619840" cy="364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Attention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87" name="Picture 2" descr=""/>
          <p:cNvPicPr/>
          <p:nvPr/>
        </p:nvPicPr>
        <p:blipFill>
          <a:blip r:embed="rId1"/>
          <a:stretch/>
        </p:blipFill>
        <p:spPr>
          <a:xfrm>
            <a:off x="217800" y="2657520"/>
            <a:ext cx="5514480" cy="320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6" descr=""/>
          <p:cNvPicPr/>
          <p:nvPr/>
        </p:nvPicPr>
        <p:blipFill>
          <a:blip r:embed="rId2"/>
          <a:stretch/>
        </p:blipFill>
        <p:spPr>
          <a:xfrm>
            <a:off x="6459120" y="2833920"/>
            <a:ext cx="5266800" cy="285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Transformers: Self-attention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90" name="Picture 2" descr="Multi-Head Self-Attention in NLP"/>
          <p:cNvPicPr/>
          <p:nvPr/>
        </p:nvPicPr>
        <p:blipFill>
          <a:blip r:embed="rId1"/>
          <a:stretch/>
        </p:blipFill>
        <p:spPr>
          <a:xfrm>
            <a:off x="2906280" y="2900520"/>
            <a:ext cx="5955120" cy="279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Transformers: Self-attention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Input Word ("it")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Tokenizer -&gt; ID (56)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Embedding Matrix -&gt; Word Embedding (vector x)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Vector goes through a multiplication: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631080" indent="-4572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x -&gt; Multiply by W_Q -&gt; Query vector (q)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631080" indent="-4572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x -&gt; Multiply by W_K -&gt; Key vector (k)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631080" indent="-4572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x -&gt; Multiply by W_V -&gt; Value vector (v)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Multi-head attention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94" name="Picture 2" descr=""/>
          <p:cNvPicPr/>
          <p:nvPr/>
        </p:nvPicPr>
        <p:blipFill>
          <a:blip r:embed="rId1"/>
          <a:stretch/>
        </p:blipFill>
        <p:spPr>
          <a:xfrm>
            <a:off x="3387600" y="2286000"/>
            <a:ext cx="4992480" cy="402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Positional Encodings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96" name="Picture 2" descr=""/>
          <p:cNvPicPr/>
          <p:nvPr/>
        </p:nvPicPr>
        <p:blipFill>
          <a:blip r:embed="rId1"/>
          <a:stretch/>
        </p:blipFill>
        <p:spPr>
          <a:xfrm>
            <a:off x="3451680" y="2286000"/>
            <a:ext cx="4864320" cy="402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Encoder Input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98" name="Picture 2" descr=""/>
          <p:cNvPicPr/>
          <p:nvPr/>
        </p:nvPicPr>
        <p:blipFill>
          <a:blip r:embed="rId1"/>
          <a:stretch/>
        </p:blipFill>
        <p:spPr>
          <a:xfrm>
            <a:off x="1439640" y="2875320"/>
            <a:ext cx="8888400" cy="284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Nice article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sng">
                <a:solidFill>
                  <a:schemeClr val="dk1"/>
                </a:solidFill>
                <a:effectLst/>
                <a:uFillTx/>
                <a:latin typeface="Tw Cen MT"/>
                <a:hlinkClick r:id="rId1"/>
              </a:rPr>
              <a:t>Medium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Encoder-decoder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02" name="Picture 2" descr="Attention is all you Need: Transformers - Decoding Data Science"/>
          <p:cNvPicPr/>
          <p:nvPr/>
        </p:nvPicPr>
        <p:blipFill>
          <a:blip r:embed="rId1"/>
          <a:stretch/>
        </p:blipFill>
        <p:spPr>
          <a:xfrm>
            <a:off x="3109320" y="1533600"/>
            <a:ext cx="5972760" cy="50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Tokenization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04" name="Picture 2" descr="LLM fine-tuning step: Tokenizing. Tokenization is a crucial phase in… | by  TeeTracker | Medium"/>
          <p:cNvPicPr/>
          <p:nvPr/>
        </p:nvPicPr>
        <p:blipFill>
          <a:blip r:embed="rId1"/>
          <a:srcRect l="0" t="11585" r="0" b="26066"/>
          <a:stretch/>
        </p:blipFill>
        <p:spPr>
          <a:xfrm>
            <a:off x="2622600" y="2751840"/>
            <a:ext cx="6522480" cy="250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LLM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Encoder-only models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Decoder-only models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 Condensed"/>
              <a:buAutoNum type="arabicPeriod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Encoder-Decorer models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Encoder-only Models (The Understanders)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Examples: BERT, RoBERTa, DistilBERT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Architecture: Uses only the Transformer's encoder stack.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How it Learns: Trained on a Masked Language Modeling (MLM) objective. It takes a sentence, randomly hides about 15% of the words ([MASK]), and its only job is to predict what those hidden words are. To do this, it must learn a deep, bi-directional understanding of the text.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Best for: Tasks that require a deep understanding of the full context of a sentence, such as text classification, sentiment analysis, and Named Entity Recognition (NER).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Decoder-only Models (The Generators)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Examples: The GPT series (from OpenAI), Llama (from Meta), Claude (from Anthropic), Gemini (from Google).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Architecture: Uses only the Transformer's decoder stack.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How it Learns: Trained on a simple Next-Token Prediction objective. Given a sequence of text, its only job is to predict the most probable next word.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Best for: Any generative task. This is the dominant architecture for chatbots, content creation, creative writing, and general-purpose conversational AI.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Encoder-Decoder Models (The Converters)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Examples: The original Transformer, T5, BART.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Architecture: Uses the full Transformer structure.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How it Learns: Trained specifically on tasks that require converting an input sequence into a new output sequence.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Best for: Sequence-to-sequence tasks like translation, summarization, and document rephrasing.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LLM training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14" name="Picture 2" descr="New LLM Pre-training and Post-training Paradigms"/>
          <p:cNvPicPr/>
          <p:nvPr/>
        </p:nvPicPr>
        <p:blipFill>
          <a:blip r:embed="rId1"/>
          <a:stretch/>
        </p:blipFill>
        <p:spPr>
          <a:xfrm>
            <a:off x="3100320" y="1604520"/>
            <a:ext cx="5991120" cy="513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LLM serving - cloud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2880" y="1819440"/>
            <a:ext cx="5642640" cy="4489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Key Players: OpenAI (with their GPT series), Google (the Gemini family), and Anthropic (the Claude family).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Pros: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Access to the most powerful models available.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Zero hardware setup or maintenance.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Highly scalable.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Cons: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Pay-per-use, which can become costly.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Data privacy concerns, as you are sending your data to a third-party service.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Requires a constant internet connection.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17" name="Picture 4" descr="Cloud Strategies for LLM Model Deployment : AWS, Azure, GCP"/>
          <p:cNvPicPr/>
          <p:nvPr/>
        </p:nvPicPr>
        <p:blipFill>
          <a:blip r:embed="rId1"/>
          <a:stretch/>
        </p:blipFill>
        <p:spPr>
          <a:xfrm>
            <a:off x="6261480" y="1819440"/>
            <a:ext cx="5714640" cy="321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Llm serving - local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47960" y="1837440"/>
            <a:ext cx="5509440" cy="4815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2500" lnSpcReduction="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Key Enabler: A tool called Ollama has made this process remarkably simple. It acts as a package manager, allowing you to download and run leading open-source models like Meta's Llama 3 or models from Mistral with a single command.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Pros: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Complete data privacy and control.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No per-call cost after initial hardware investment.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Works offline.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Cons: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Requires capable hardware (especially significant amounts of RAM and a good GPU).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Models are powerful but often slightly behind the performance of the absolute top-tier commercial models.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You are responsible for setup and management.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20" name="Picture 3" descr="All You Need To Know About Running LLMs Locally"/>
          <p:cNvPicPr/>
          <p:nvPr/>
        </p:nvPicPr>
        <p:blipFill>
          <a:blip r:embed="rId1"/>
          <a:stretch/>
        </p:blipFill>
        <p:spPr>
          <a:xfrm>
            <a:off x="5657760" y="1837440"/>
            <a:ext cx="6533640" cy="367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sng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  <a:hlinkClick r:id="rId1"/>
              </a:rPr>
              <a:t>Lmsys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22" name="Місце для вмісту 4" descr=""/>
          <p:cNvPicPr/>
          <p:nvPr/>
        </p:nvPicPr>
        <p:blipFill>
          <a:blip r:embed="rId2"/>
          <a:stretch/>
        </p:blipFill>
        <p:spPr>
          <a:xfrm>
            <a:off x="1711440" y="1750320"/>
            <a:ext cx="8768520" cy="489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Інтеграл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149</TotalTime>
  <Application>LibreOffice/25.2.6.2$Linux_X86_64 LibreOffice_project/520$Build-2</Application>
  <AppVersion>15.0000</AppVersion>
  <Words>566</Words>
  <Paragraphs>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2025-07-13T22:03:29Z</dcterms:created>
  <dc:creator>Borys Lypa</dc:creator>
  <dc:description/>
  <dc:language>en-US</dc:language>
  <cp:lastModifiedBy/>
  <dcterms:modified xsi:type="dcterms:W3CDTF">2026-07-07T10:40:02Z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Широкий екран</vt:lpwstr>
  </property>
  <property fmtid="{D5CDD505-2E9C-101B-9397-08002B2CF9AE}" pid="3" name="Slides">
    <vt:i4>23</vt:i4>
  </property>
</Properties>
</file>